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T Commons Pro Bold" charset="1" panose="020B0103030102020204"/>
      <p:regular r:id="rId18"/>
    </p:embeddedFont>
    <p:embeddedFont>
      <p:font typeface="TT Commons Pro" charset="1" panose="020B01030301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11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2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13" Target="../media/image11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6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jpeg" Type="http://schemas.openxmlformats.org/officeDocument/2006/relationships/image"/><Relationship Id="rId11" Target="../media/image11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8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9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3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14087" y="457858"/>
            <a:ext cx="5446882" cy="5589151"/>
          </a:xfrm>
          <a:custGeom>
            <a:avLst/>
            <a:gdLst/>
            <a:ahLst/>
            <a:cxnLst/>
            <a:rect r="r" b="b" t="t" l="l"/>
            <a:pathLst>
              <a:path h="5589151" w="5446882">
                <a:moveTo>
                  <a:pt x="0" y="0"/>
                </a:moveTo>
                <a:lnTo>
                  <a:pt x="5446882" y="0"/>
                </a:lnTo>
                <a:lnTo>
                  <a:pt x="5446882" y="5589152"/>
                </a:lnTo>
                <a:lnTo>
                  <a:pt x="0" y="5589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13273">
            <a:off x="1653793" y="7334601"/>
            <a:ext cx="19418565" cy="10950269"/>
          </a:xfrm>
          <a:custGeom>
            <a:avLst/>
            <a:gdLst/>
            <a:ahLst/>
            <a:cxnLst/>
            <a:rect r="r" b="b" t="t" l="l"/>
            <a:pathLst>
              <a:path h="10950269" w="19418565">
                <a:moveTo>
                  <a:pt x="0" y="0"/>
                </a:moveTo>
                <a:lnTo>
                  <a:pt x="19418564" y="0"/>
                </a:lnTo>
                <a:lnTo>
                  <a:pt x="19418564" y="10950268"/>
                </a:lnTo>
                <a:lnTo>
                  <a:pt x="0" y="109502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8325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1029526">
            <a:off x="-1856605" y="-2333492"/>
            <a:ext cx="7111257" cy="4010089"/>
          </a:xfrm>
          <a:custGeom>
            <a:avLst/>
            <a:gdLst/>
            <a:ahLst/>
            <a:cxnLst/>
            <a:rect r="r" b="b" t="t" l="l"/>
            <a:pathLst>
              <a:path h="4010089" w="7111257">
                <a:moveTo>
                  <a:pt x="7111257" y="4010089"/>
                </a:moveTo>
                <a:lnTo>
                  <a:pt x="0" y="4010089"/>
                </a:lnTo>
                <a:lnTo>
                  <a:pt x="0" y="0"/>
                </a:lnTo>
                <a:lnTo>
                  <a:pt x="7111257" y="0"/>
                </a:lnTo>
                <a:lnTo>
                  <a:pt x="7111257" y="401008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832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70909" y="2621800"/>
            <a:ext cx="9587101" cy="6850419"/>
          </a:xfrm>
          <a:custGeom>
            <a:avLst/>
            <a:gdLst/>
            <a:ahLst/>
            <a:cxnLst/>
            <a:rect r="r" b="b" t="t" l="l"/>
            <a:pathLst>
              <a:path h="6850419" w="9587101">
                <a:moveTo>
                  <a:pt x="0" y="0"/>
                </a:moveTo>
                <a:lnTo>
                  <a:pt x="9587101" y="0"/>
                </a:lnTo>
                <a:lnTo>
                  <a:pt x="9587101" y="6850419"/>
                </a:lnTo>
                <a:lnTo>
                  <a:pt x="0" y="6850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968899" y="8859289"/>
            <a:ext cx="7315200" cy="798022"/>
          </a:xfrm>
          <a:custGeom>
            <a:avLst/>
            <a:gdLst/>
            <a:ahLst/>
            <a:cxnLst/>
            <a:rect r="r" b="b" t="t" l="l"/>
            <a:pathLst>
              <a:path h="798022" w="7315200">
                <a:moveTo>
                  <a:pt x="0" y="0"/>
                </a:moveTo>
                <a:lnTo>
                  <a:pt x="7315200" y="0"/>
                </a:lnTo>
                <a:lnTo>
                  <a:pt x="7315200" y="798022"/>
                </a:lnTo>
                <a:lnTo>
                  <a:pt x="0" y="7980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764459" y="629689"/>
            <a:ext cx="7315200" cy="798022"/>
          </a:xfrm>
          <a:custGeom>
            <a:avLst/>
            <a:gdLst/>
            <a:ahLst/>
            <a:cxnLst/>
            <a:rect r="r" b="b" t="t" l="l"/>
            <a:pathLst>
              <a:path h="798022" w="7315200">
                <a:moveTo>
                  <a:pt x="0" y="0"/>
                </a:moveTo>
                <a:lnTo>
                  <a:pt x="7315200" y="0"/>
                </a:lnTo>
                <a:lnTo>
                  <a:pt x="7315200" y="798022"/>
                </a:lnTo>
                <a:lnTo>
                  <a:pt x="0" y="7980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61628" y="1925647"/>
            <a:ext cx="6371927" cy="2774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42"/>
              </a:lnSpc>
            </a:pPr>
            <a:r>
              <a:rPr lang="en-US" b="true" sz="7958" spc="-278">
                <a:solidFill>
                  <a:srgbClr val="4D98A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SGP-MINERO:</a:t>
            </a:r>
          </a:p>
          <a:p>
            <a:pPr algn="l">
              <a:lnSpc>
                <a:spcPts val="11142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99475" y="3280230"/>
            <a:ext cx="9781785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b="true" sz="5000" spc="-175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GESTIÓN DE PASAJ</a:t>
            </a:r>
            <a:r>
              <a:rPr lang="en-US" b="true" sz="5000" spc="-175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ES</a:t>
            </a:r>
          </a:p>
          <a:p>
            <a:pPr algn="l">
              <a:lnSpc>
                <a:spcPts val="7000"/>
              </a:lnSpc>
            </a:pPr>
            <a:r>
              <a:rPr lang="en-US" b="true" sz="5000" spc="-175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PLATAFORMA DE INGESTA &amp; CRIPTOGRAFÍA B2B</a:t>
            </a:r>
          </a:p>
          <a:p>
            <a:pPr algn="l">
              <a:lnSpc>
                <a:spcPts val="7000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6414589"/>
            <a:ext cx="7408569" cy="773432"/>
            <a:chOff x="0" y="0"/>
            <a:chExt cx="3892834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92834" cy="406400"/>
            </a:xfrm>
            <a:custGeom>
              <a:avLst/>
              <a:gdLst/>
              <a:ahLst/>
              <a:cxnLst/>
              <a:rect r="r" b="b" t="t" l="l"/>
              <a:pathLst>
                <a:path h="406400" w="3892834">
                  <a:moveTo>
                    <a:pt x="3689634" y="0"/>
                  </a:moveTo>
                  <a:cubicBezTo>
                    <a:pt x="3801858" y="0"/>
                    <a:pt x="3892834" y="90976"/>
                    <a:pt x="3892834" y="203200"/>
                  </a:cubicBezTo>
                  <a:cubicBezTo>
                    <a:pt x="3892834" y="315424"/>
                    <a:pt x="3801858" y="406400"/>
                    <a:pt x="368963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C849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3892834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Equipo:</a:t>
              </a:r>
              <a:r>
                <a:rPr lang="en-US" sz="2499">
                  <a:solidFill>
                    <a:srgbClr val="FFFFFF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 </a:t>
              </a:r>
              <a:r>
                <a:rPr lang="en-US" sz="2499">
                  <a:solidFill>
                    <a:srgbClr val="FFFFFF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Bernardo Diaz · Ángel Frei  · Andrés Salcedo 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898624" y="0"/>
            <a:ext cx="1865835" cy="1889888"/>
          </a:xfrm>
          <a:custGeom>
            <a:avLst/>
            <a:gdLst/>
            <a:ahLst/>
            <a:cxnLst/>
            <a:rect r="r" b="b" t="t" l="l"/>
            <a:pathLst>
              <a:path h="1889888" w="1865835">
                <a:moveTo>
                  <a:pt x="0" y="0"/>
                </a:moveTo>
                <a:lnTo>
                  <a:pt x="1865835" y="0"/>
                </a:lnTo>
                <a:lnTo>
                  <a:pt x="1865835" y="1889888"/>
                </a:lnTo>
                <a:lnTo>
                  <a:pt x="0" y="18898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0" y="7298124"/>
            <a:ext cx="5939969" cy="773432"/>
            <a:chOff x="0" y="0"/>
            <a:chExt cx="3121158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21158" cy="406400"/>
            </a:xfrm>
            <a:custGeom>
              <a:avLst/>
              <a:gdLst/>
              <a:ahLst/>
              <a:cxnLst/>
              <a:rect r="r" b="b" t="t" l="l"/>
              <a:pathLst>
                <a:path h="406400" w="3121158">
                  <a:moveTo>
                    <a:pt x="2917958" y="0"/>
                  </a:moveTo>
                  <a:cubicBezTo>
                    <a:pt x="3030182" y="0"/>
                    <a:pt x="3121158" y="90976"/>
                    <a:pt x="3121158" y="203200"/>
                  </a:cubicBezTo>
                  <a:cubicBezTo>
                    <a:pt x="3121158" y="315424"/>
                    <a:pt x="3030182" y="406400"/>
                    <a:pt x="291795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C849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121158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Doc</a:t>
              </a:r>
              <a:r>
                <a:rPr lang="en-US" sz="2499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ente:</a:t>
              </a:r>
              <a:r>
                <a:rPr lang="en-US" sz="2499">
                  <a:solidFill>
                    <a:srgbClr val="FFFFFF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 Diego Alberto Garcés Miranda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8185856"/>
            <a:ext cx="3236690" cy="773432"/>
            <a:chOff x="0" y="0"/>
            <a:chExt cx="170072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00719" cy="406400"/>
            </a:xfrm>
            <a:custGeom>
              <a:avLst/>
              <a:gdLst/>
              <a:ahLst/>
              <a:cxnLst/>
              <a:rect r="r" b="b" t="t" l="l"/>
              <a:pathLst>
                <a:path h="406400" w="1700719">
                  <a:moveTo>
                    <a:pt x="1497520" y="0"/>
                  </a:moveTo>
                  <a:cubicBezTo>
                    <a:pt x="1609744" y="0"/>
                    <a:pt x="1700719" y="90976"/>
                    <a:pt x="1700719" y="203200"/>
                  </a:cubicBezTo>
                  <a:cubicBezTo>
                    <a:pt x="1700719" y="315424"/>
                    <a:pt x="1609744" y="406400"/>
                    <a:pt x="14975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C849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70072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Institució</a:t>
              </a:r>
              <a:r>
                <a:rPr lang="en-US" sz="2499" b="true">
                  <a:solidFill>
                    <a:srgbClr val="FFFFFF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n: </a:t>
              </a:r>
              <a:r>
                <a:rPr lang="en-US" sz="2499">
                  <a:solidFill>
                    <a:srgbClr val="FFFFFF"/>
                  </a:solidFill>
                  <a:latin typeface="TT Commons Pro"/>
                  <a:ea typeface="TT Commons Pro"/>
                  <a:cs typeface="TT Commons Pro"/>
                  <a:sym typeface="TT Commons Pro"/>
                </a:rPr>
                <a:t>Duoc UC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0" y="-171923"/>
            <a:ext cx="3969249" cy="976960"/>
          </a:xfrm>
          <a:custGeom>
            <a:avLst/>
            <a:gdLst/>
            <a:ahLst/>
            <a:cxnLst/>
            <a:rect r="r" b="b" t="t" l="l"/>
            <a:pathLst>
              <a:path h="976960" w="3969249">
                <a:moveTo>
                  <a:pt x="0" y="0"/>
                </a:moveTo>
                <a:lnTo>
                  <a:pt x="3969249" y="0"/>
                </a:lnTo>
                <a:lnTo>
                  <a:pt x="3969249" y="976960"/>
                </a:lnTo>
                <a:lnTo>
                  <a:pt x="0" y="97696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3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87959">
            <a:off x="-253544" y="5012672"/>
            <a:ext cx="19418565" cy="14051980"/>
          </a:xfrm>
          <a:custGeom>
            <a:avLst/>
            <a:gdLst/>
            <a:ahLst/>
            <a:cxnLst/>
            <a:rect r="r" b="b" t="t" l="l"/>
            <a:pathLst>
              <a:path h="14051980" w="19418565">
                <a:moveTo>
                  <a:pt x="19418565" y="0"/>
                </a:moveTo>
                <a:lnTo>
                  <a:pt x="0" y="0"/>
                </a:lnTo>
                <a:lnTo>
                  <a:pt x="0" y="14051979"/>
                </a:lnTo>
                <a:lnTo>
                  <a:pt x="19418565" y="14051979"/>
                </a:lnTo>
                <a:lnTo>
                  <a:pt x="1941856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89677">
            <a:off x="-3373251" y="-3199561"/>
            <a:ext cx="8803901" cy="4964583"/>
          </a:xfrm>
          <a:custGeom>
            <a:avLst/>
            <a:gdLst/>
            <a:ahLst/>
            <a:cxnLst/>
            <a:rect r="r" b="b" t="t" l="l"/>
            <a:pathLst>
              <a:path h="4964583" w="8803901">
                <a:moveTo>
                  <a:pt x="8803902" y="4964583"/>
                </a:moveTo>
                <a:lnTo>
                  <a:pt x="0" y="4964583"/>
                </a:lnTo>
                <a:lnTo>
                  <a:pt x="0" y="0"/>
                </a:lnTo>
                <a:lnTo>
                  <a:pt x="8803902" y="0"/>
                </a:lnTo>
                <a:lnTo>
                  <a:pt x="8803902" y="49645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8325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938100" y="-3028050"/>
            <a:ext cx="7524923" cy="752492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C8492"/>
            </a:solidFill>
            <a:ln w="95250" cap="sq">
              <a:solidFill>
                <a:srgbClr val="BBF4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551836" y="2009260"/>
            <a:ext cx="6929894" cy="1203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b="true" sz="7000" spc="-245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INTRODUCT</a:t>
            </a:r>
            <a:r>
              <a:rPr lang="en-US" b="true" sz="7000" spc="-245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922341" y="-3293105"/>
            <a:ext cx="6340087" cy="6505686"/>
          </a:xfrm>
          <a:custGeom>
            <a:avLst/>
            <a:gdLst/>
            <a:ahLst/>
            <a:cxnLst/>
            <a:rect r="r" b="b" t="t" l="l"/>
            <a:pathLst>
              <a:path h="6505686" w="6340087">
                <a:moveTo>
                  <a:pt x="0" y="0"/>
                </a:moveTo>
                <a:lnTo>
                  <a:pt x="6340087" y="0"/>
                </a:lnTo>
                <a:lnTo>
                  <a:pt x="6340087" y="6505686"/>
                </a:lnTo>
                <a:lnTo>
                  <a:pt x="0" y="6505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09539" y="289852"/>
            <a:ext cx="1406007" cy="1424132"/>
          </a:xfrm>
          <a:custGeom>
            <a:avLst/>
            <a:gdLst/>
            <a:ahLst/>
            <a:cxnLst/>
            <a:rect r="r" b="b" t="t" l="l"/>
            <a:pathLst>
              <a:path h="1424132" w="1406007">
                <a:moveTo>
                  <a:pt x="0" y="0"/>
                </a:moveTo>
                <a:lnTo>
                  <a:pt x="1406007" y="0"/>
                </a:lnTo>
                <a:lnTo>
                  <a:pt x="1406007" y="1424133"/>
                </a:lnTo>
                <a:lnTo>
                  <a:pt x="0" y="14241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15546" y="629689"/>
            <a:ext cx="7315200" cy="798022"/>
          </a:xfrm>
          <a:custGeom>
            <a:avLst/>
            <a:gdLst/>
            <a:ahLst/>
            <a:cxnLst/>
            <a:rect r="r" b="b" t="t" l="l"/>
            <a:pathLst>
              <a:path h="798022" w="7315200">
                <a:moveTo>
                  <a:pt x="0" y="0"/>
                </a:moveTo>
                <a:lnTo>
                  <a:pt x="7315200" y="0"/>
                </a:lnTo>
                <a:lnTo>
                  <a:pt x="7315200" y="798022"/>
                </a:lnTo>
                <a:lnTo>
                  <a:pt x="0" y="7980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336702" y="7533097"/>
            <a:ext cx="4020757" cy="2931497"/>
          </a:xfrm>
          <a:custGeom>
            <a:avLst/>
            <a:gdLst/>
            <a:ahLst/>
            <a:cxnLst/>
            <a:rect r="r" b="b" t="t" l="l"/>
            <a:pathLst>
              <a:path h="2931497" w="4020757">
                <a:moveTo>
                  <a:pt x="0" y="0"/>
                </a:moveTo>
                <a:lnTo>
                  <a:pt x="4020757" y="0"/>
                </a:lnTo>
                <a:lnTo>
                  <a:pt x="4020757" y="2931497"/>
                </a:lnTo>
                <a:lnTo>
                  <a:pt x="0" y="29314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708802" y="3605402"/>
            <a:ext cx="11001592" cy="436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La industria minera en Chile opera bajo estrictos regímenes de turnos de trabajo (tales como sistemas 7x7 o 4x3), lo que demanda una logística de transporte y traslados de personal sumamente dinámica, masiva y de alta criticidad operativa. En este ecosistema, la coordinación de viajes hacia y desde las faenas involucra diariamente a cientos de trabajadores propios y</a:t>
            </a: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de empresas subcontratistas. No obstante, en la actualidad este proceso de ingesta de datos se ejecuta de manera precaria y descentralizada, dependiendo casi en su totalidad de la recepción manual de múltiples planillas de cálculo en formato Excel generadas por distintas áreas operativas.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0" y="-171923"/>
            <a:ext cx="3969249" cy="976960"/>
          </a:xfrm>
          <a:custGeom>
            <a:avLst/>
            <a:gdLst/>
            <a:ahLst/>
            <a:cxnLst/>
            <a:rect r="r" b="b" t="t" l="l"/>
            <a:pathLst>
              <a:path h="976960" w="3969249">
                <a:moveTo>
                  <a:pt x="0" y="0"/>
                </a:moveTo>
                <a:lnTo>
                  <a:pt x="3969249" y="0"/>
                </a:lnTo>
                <a:lnTo>
                  <a:pt x="3969249" y="976960"/>
                </a:lnTo>
                <a:lnTo>
                  <a:pt x="0" y="97696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3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6000">
            <a:off x="-1336116" y="9264856"/>
            <a:ext cx="19418565" cy="14051980"/>
          </a:xfrm>
          <a:custGeom>
            <a:avLst/>
            <a:gdLst/>
            <a:ahLst/>
            <a:cxnLst/>
            <a:rect r="r" b="b" t="t" l="l"/>
            <a:pathLst>
              <a:path h="14051980" w="19418565">
                <a:moveTo>
                  <a:pt x="0" y="0"/>
                </a:moveTo>
                <a:lnTo>
                  <a:pt x="19418564" y="0"/>
                </a:lnTo>
                <a:lnTo>
                  <a:pt x="19418564" y="14051980"/>
                </a:lnTo>
                <a:lnTo>
                  <a:pt x="0" y="140519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88000">
            <a:off x="11958384" y="-3612510"/>
            <a:ext cx="8803901" cy="4964583"/>
          </a:xfrm>
          <a:custGeom>
            <a:avLst/>
            <a:gdLst/>
            <a:ahLst/>
            <a:cxnLst/>
            <a:rect r="r" b="b" t="t" l="l"/>
            <a:pathLst>
              <a:path h="4964583" w="8803901">
                <a:moveTo>
                  <a:pt x="0" y="4964584"/>
                </a:moveTo>
                <a:lnTo>
                  <a:pt x="8803901" y="4964584"/>
                </a:lnTo>
                <a:lnTo>
                  <a:pt x="8803901" y="0"/>
                </a:lnTo>
                <a:lnTo>
                  <a:pt x="0" y="0"/>
                </a:lnTo>
                <a:lnTo>
                  <a:pt x="0" y="496458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8325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2119" y="1176808"/>
            <a:ext cx="7886057" cy="10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400"/>
              </a:lnSpc>
              <a:spcBef>
                <a:spcPct val="0"/>
              </a:spcBef>
            </a:pPr>
            <a:r>
              <a:rPr lang="en-US" b="true" sz="6000" spc="-210">
                <a:solidFill>
                  <a:srgbClr val="4D98A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PROP</a:t>
            </a:r>
            <a:r>
              <a:rPr lang="en-US" b="true" sz="6000" spc="-210">
                <a:solidFill>
                  <a:srgbClr val="4D98A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UESTA DE VALOR: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57055" y="2061983"/>
            <a:ext cx="8046793" cy="10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400"/>
              </a:lnSpc>
              <a:spcBef>
                <a:spcPct val="0"/>
              </a:spcBef>
            </a:pPr>
            <a:r>
              <a:rPr lang="en-US" b="true" sz="6000" spc="-21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EMBUDO INT</a:t>
            </a:r>
            <a:r>
              <a:rPr lang="en-US" b="true" sz="6000" spc="-21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ELIGENTE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-4287305" y="629689"/>
            <a:ext cx="7315200" cy="798022"/>
          </a:xfrm>
          <a:custGeom>
            <a:avLst/>
            <a:gdLst/>
            <a:ahLst/>
            <a:cxnLst/>
            <a:rect r="r" b="b" t="t" l="l"/>
            <a:pathLst>
              <a:path h="798022" w="7315200">
                <a:moveTo>
                  <a:pt x="7315200" y="0"/>
                </a:moveTo>
                <a:lnTo>
                  <a:pt x="0" y="0"/>
                </a:lnTo>
                <a:lnTo>
                  <a:pt x="0" y="798022"/>
                </a:lnTo>
                <a:lnTo>
                  <a:pt x="7315200" y="79802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459480" y="788417"/>
            <a:ext cx="1379606" cy="1397391"/>
          </a:xfrm>
          <a:custGeom>
            <a:avLst/>
            <a:gdLst/>
            <a:ahLst/>
            <a:cxnLst/>
            <a:rect r="r" b="b" t="t" l="l"/>
            <a:pathLst>
              <a:path h="1397391" w="1379606">
                <a:moveTo>
                  <a:pt x="0" y="0"/>
                </a:moveTo>
                <a:lnTo>
                  <a:pt x="1379606" y="0"/>
                </a:lnTo>
                <a:lnTo>
                  <a:pt x="1379606" y="1397391"/>
                </a:lnTo>
                <a:lnTo>
                  <a:pt x="0" y="13973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022558" y="2185808"/>
            <a:ext cx="8265442" cy="7484455"/>
          </a:xfrm>
          <a:custGeom>
            <a:avLst/>
            <a:gdLst/>
            <a:ahLst/>
            <a:cxnLst/>
            <a:rect r="r" b="b" t="t" l="l"/>
            <a:pathLst>
              <a:path h="7484455" w="8265442">
                <a:moveTo>
                  <a:pt x="0" y="0"/>
                </a:moveTo>
                <a:lnTo>
                  <a:pt x="8265442" y="0"/>
                </a:lnTo>
                <a:lnTo>
                  <a:pt x="8265442" y="7484455"/>
                </a:lnTo>
                <a:lnTo>
                  <a:pt x="0" y="74844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2119" y="3430054"/>
            <a:ext cx="949652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SGP-Minero actúa como un embudo inteligente B2B que estandariza y blinda la ingest</a:t>
            </a: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 masiva de pasajes: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3757" y="4485078"/>
            <a:ext cx="9571047" cy="4365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Mapper UI Asistido (Anti-GIGO)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Estandarización visual de columnas sin alterar las planillas originales del contratista.</a:t>
            </a: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Verificación </a:t>
            </a:r>
            <a:r>
              <a:rPr lang="en-US" sz="2500" b="true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Algorítmica &amp; Criptografía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Módulo 11 en RUT, cruce con Maestro_Personas y cifrado simétrico AES-128.</a:t>
            </a: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Acceso Seguro RBAC (JWT)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Aislamiento perimetral con tokens en memoria volátil de React.</a:t>
            </a:r>
          </a:p>
          <a:p>
            <a:pPr algn="just">
              <a:lnSpc>
                <a:spcPts val="3500"/>
              </a:lnSpc>
            </a:pPr>
          </a:p>
          <a:p>
            <a:pPr algn="just">
              <a:lnSpc>
                <a:spcPts val="350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0" y="-171923"/>
            <a:ext cx="3969249" cy="976960"/>
          </a:xfrm>
          <a:custGeom>
            <a:avLst/>
            <a:gdLst/>
            <a:ahLst/>
            <a:cxnLst/>
            <a:rect r="r" b="b" t="t" l="l"/>
            <a:pathLst>
              <a:path h="976960" w="3969249">
                <a:moveTo>
                  <a:pt x="0" y="0"/>
                </a:moveTo>
                <a:lnTo>
                  <a:pt x="3969249" y="0"/>
                </a:lnTo>
                <a:lnTo>
                  <a:pt x="3969249" y="976960"/>
                </a:lnTo>
                <a:lnTo>
                  <a:pt x="0" y="9769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3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35043" y="-2169674"/>
            <a:ext cx="5063173" cy="5195420"/>
          </a:xfrm>
          <a:custGeom>
            <a:avLst/>
            <a:gdLst/>
            <a:ahLst/>
            <a:cxnLst/>
            <a:rect r="r" b="b" t="t" l="l"/>
            <a:pathLst>
              <a:path h="5195420" w="5063173">
                <a:moveTo>
                  <a:pt x="0" y="0"/>
                </a:moveTo>
                <a:lnTo>
                  <a:pt x="5063172" y="0"/>
                </a:lnTo>
                <a:lnTo>
                  <a:pt x="5063172" y="5195420"/>
                </a:lnTo>
                <a:lnTo>
                  <a:pt x="0" y="5195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59871" y="-2169674"/>
            <a:ext cx="5063173" cy="5195420"/>
          </a:xfrm>
          <a:custGeom>
            <a:avLst/>
            <a:gdLst/>
            <a:ahLst/>
            <a:cxnLst/>
            <a:rect r="r" b="b" t="t" l="l"/>
            <a:pathLst>
              <a:path h="5195420" w="5063173">
                <a:moveTo>
                  <a:pt x="0" y="0"/>
                </a:moveTo>
                <a:lnTo>
                  <a:pt x="5063172" y="0"/>
                </a:lnTo>
                <a:lnTo>
                  <a:pt x="5063172" y="5195420"/>
                </a:lnTo>
                <a:lnTo>
                  <a:pt x="0" y="5195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589677">
            <a:off x="-2857599" y="-3064649"/>
            <a:ext cx="8803901" cy="4964583"/>
          </a:xfrm>
          <a:custGeom>
            <a:avLst/>
            <a:gdLst/>
            <a:ahLst/>
            <a:cxnLst/>
            <a:rect r="r" b="b" t="t" l="l"/>
            <a:pathLst>
              <a:path h="4964583" w="8803901">
                <a:moveTo>
                  <a:pt x="8803902" y="4964584"/>
                </a:moveTo>
                <a:lnTo>
                  <a:pt x="0" y="4964584"/>
                </a:lnTo>
                <a:lnTo>
                  <a:pt x="0" y="0"/>
                </a:lnTo>
                <a:lnTo>
                  <a:pt x="8803902" y="0"/>
                </a:lnTo>
                <a:lnTo>
                  <a:pt x="8803902" y="496458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832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88000">
            <a:off x="12342525" y="-3064649"/>
            <a:ext cx="8803901" cy="4964583"/>
          </a:xfrm>
          <a:custGeom>
            <a:avLst/>
            <a:gdLst/>
            <a:ahLst/>
            <a:cxnLst/>
            <a:rect r="r" b="b" t="t" l="l"/>
            <a:pathLst>
              <a:path h="4964583" w="8803901">
                <a:moveTo>
                  <a:pt x="0" y="4964584"/>
                </a:moveTo>
                <a:lnTo>
                  <a:pt x="8803901" y="4964584"/>
                </a:lnTo>
                <a:lnTo>
                  <a:pt x="8803901" y="0"/>
                </a:lnTo>
                <a:lnTo>
                  <a:pt x="0" y="0"/>
                </a:lnTo>
                <a:lnTo>
                  <a:pt x="0" y="496458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8325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924737" y="40408"/>
            <a:ext cx="1201398" cy="1216886"/>
          </a:xfrm>
          <a:custGeom>
            <a:avLst/>
            <a:gdLst/>
            <a:ahLst/>
            <a:cxnLst/>
            <a:rect r="r" b="b" t="t" l="l"/>
            <a:pathLst>
              <a:path h="1216886" w="1201398">
                <a:moveTo>
                  <a:pt x="0" y="0"/>
                </a:moveTo>
                <a:lnTo>
                  <a:pt x="1201398" y="0"/>
                </a:lnTo>
                <a:lnTo>
                  <a:pt x="1201398" y="1216885"/>
                </a:lnTo>
                <a:lnTo>
                  <a:pt x="0" y="1216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03862" y="9663999"/>
            <a:ext cx="5982751" cy="652664"/>
          </a:xfrm>
          <a:custGeom>
            <a:avLst/>
            <a:gdLst/>
            <a:ahLst/>
            <a:cxnLst/>
            <a:rect r="r" b="b" t="t" l="l"/>
            <a:pathLst>
              <a:path h="652664" w="5982751">
                <a:moveTo>
                  <a:pt x="0" y="0"/>
                </a:moveTo>
                <a:lnTo>
                  <a:pt x="5982752" y="0"/>
                </a:lnTo>
                <a:lnTo>
                  <a:pt x="5982752" y="652664"/>
                </a:lnTo>
                <a:lnTo>
                  <a:pt x="0" y="6526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2498614" y="9512985"/>
            <a:ext cx="5982751" cy="652664"/>
          </a:xfrm>
          <a:custGeom>
            <a:avLst/>
            <a:gdLst/>
            <a:ahLst/>
            <a:cxnLst/>
            <a:rect r="r" b="b" t="t" l="l"/>
            <a:pathLst>
              <a:path h="652664" w="5982751">
                <a:moveTo>
                  <a:pt x="5982752" y="0"/>
                </a:moveTo>
                <a:lnTo>
                  <a:pt x="0" y="0"/>
                </a:lnTo>
                <a:lnTo>
                  <a:pt x="0" y="652664"/>
                </a:lnTo>
                <a:lnTo>
                  <a:pt x="5982752" y="652664"/>
                </a:lnTo>
                <a:lnTo>
                  <a:pt x="598275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99531" y="573763"/>
            <a:ext cx="11883470" cy="244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  <a:spcBef>
                <a:spcPct val="0"/>
              </a:spcBef>
            </a:pPr>
            <a:r>
              <a:rPr lang="en-US" b="true" sz="7000" spc="-245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4 PILARES ESTRATÉGICOS</a:t>
            </a:r>
          </a:p>
          <a:p>
            <a:pPr algn="ctr">
              <a:lnSpc>
                <a:spcPts val="98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7598" y="3596694"/>
            <a:ext cx="8115300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1. Privacidad por Diseño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Cifrado simétrico AES-128 sobre PII antes de persistir. Validación 100% interna contra tab</a:t>
            </a: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la maestra aislada.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561516" y="3508364"/>
            <a:ext cx="8115300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2. Flexibilidad Híbrida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PostgreSQL con esquemas relacionales ACID para maestros y columnas nativas JSONB para la car</a:t>
            </a: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ga documental variable.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57598" y="7142424"/>
            <a:ext cx="8115300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3. UX Preventiva (Anti-GIGO)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Bloqueo interactivo en React que impide enviar peticiones si no se han emparejado las columnas obl</a:t>
            </a: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igatorias del sistema.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561516" y="7142424"/>
            <a:ext cx="8115300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4. Trazabilidad y RBAC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Control de acceso basado en roles mediante JWT. Registro inalterable de operador, fecha y estado de c</a:t>
            </a: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ada lote procesado.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9561516" y="5683239"/>
            <a:ext cx="1373459" cy="1373459"/>
            <a:chOff x="0" y="0"/>
            <a:chExt cx="736600" cy="736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390026" y="638"/>
                  </a:moveTo>
                  <a:lnTo>
                    <a:pt x="422581" y="119244"/>
                  </a:lnTo>
                  <a:cubicBezTo>
                    <a:pt x="430418" y="120959"/>
                    <a:pt x="438172" y="123037"/>
                    <a:pt x="445812" y="125477"/>
                  </a:cubicBezTo>
                  <a:lnTo>
                    <a:pt x="533311" y="39039"/>
                  </a:lnTo>
                  <a:cubicBezTo>
                    <a:pt x="546273" y="45537"/>
                    <a:pt x="558838" y="52788"/>
                    <a:pt x="570944" y="60764"/>
                  </a:cubicBezTo>
                  <a:lnTo>
                    <a:pt x="539835" y="179761"/>
                  </a:lnTo>
                  <a:cubicBezTo>
                    <a:pt x="545769" y="185157"/>
                    <a:pt x="551444" y="190831"/>
                    <a:pt x="556842" y="196759"/>
                  </a:cubicBezTo>
                  <a:lnTo>
                    <a:pt x="675838" y="165649"/>
                  </a:lnTo>
                  <a:cubicBezTo>
                    <a:pt x="683815" y="177767"/>
                    <a:pt x="691071" y="190330"/>
                    <a:pt x="697565" y="203284"/>
                  </a:cubicBezTo>
                  <a:lnTo>
                    <a:pt x="611125" y="290780"/>
                  </a:lnTo>
                  <a:cubicBezTo>
                    <a:pt x="613565" y="298422"/>
                    <a:pt x="615641" y="306175"/>
                    <a:pt x="617350" y="314011"/>
                  </a:cubicBezTo>
                  <a:lnTo>
                    <a:pt x="735959" y="346570"/>
                  </a:lnTo>
                  <a:cubicBezTo>
                    <a:pt x="736813" y="361044"/>
                    <a:pt x="736813" y="375559"/>
                    <a:pt x="735959" y="390020"/>
                  </a:cubicBezTo>
                  <a:lnTo>
                    <a:pt x="617350" y="422579"/>
                  </a:lnTo>
                  <a:cubicBezTo>
                    <a:pt x="615641" y="430414"/>
                    <a:pt x="613565" y="438167"/>
                    <a:pt x="611125" y="445808"/>
                  </a:cubicBezTo>
                  <a:lnTo>
                    <a:pt x="697565" y="533306"/>
                  </a:lnTo>
                  <a:cubicBezTo>
                    <a:pt x="691071" y="546274"/>
                    <a:pt x="683815" y="558837"/>
                    <a:pt x="675838" y="570940"/>
                  </a:cubicBezTo>
                  <a:lnTo>
                    <a:pt x="556842" y="539831"/>
                  </a:lnTo>
                  <a:cubicBezTo>
                    <a:pt x="551444" y="545772"/>
                    <a:pt x="545769" y="551447"/>
                    <a:pt x="539835" y="556843"/>
                  </a:cubicBezTo>
                  <a:lnTo>
                    <a:pt x="570944" y="675839"/>
                  </a:lnTo>
                  <a:cubicBezTo>
                    <a:pt x="558838" y="683816"/>
                    <a:pt x="546273" y="691067"/>
                    <a:pt x="533311" y="697564"/>
                  </a:cubicBezTo>
                  <a:lnTo>
                    <a:pt x="445812" y="611127"/>
                  </a:lnTo>
                  <a:cubicBezTo>
                    <a:pt x="438172" y="613566"/>
                    <a:pt x="430418" y="615644"/>
                    <a:pt x="422581" y="617346"/>
                  </a:cubicBezTo>
                  <a:lnTo>
                    <a:pt x="390026" y="735951"/>
                  </a:lnTo>
                  <a:cubicBezTo>
                    <a:pt x="375553" y="736816"/>
                    <a:pt x="361043" y="736816"/>
                    <a:pt x="346570" y="735951"/>
                  </a:cubicBezTo>
                  <a:lnTo>
                    <a:pt x="314013" y="617346"/>
                  </a:lnTo>
                  <a:cubicBezTo>
                    <a:pt x="306175" y="615644"/>
                    <a:pt x="298423" y="613566"/>
                    <a:pt x="290783" y="611127"/>
                  </a:cubicBezTo>
                  <a:lnTo>
                    <a:pt x="203286" y="697564"/>
                  </a:lnTo>
                  <a:cubicBezTo>
                    <a:pt x="190318" y="691067"/>
                    <a:pt x="177754" y="683816"/>
                    <a:pt x="165651" y="675839"/>
                  </a:cubicBezTo>
                  <a:lnTo>
                    <a:pt x="196760" y="556843"/>
                  </a:lnTo>
                  <a:cubicBezTo>
                    <a:pt x="190820" y="551447"/>
                    <a:pt x="185158" y="545772"/>
                    <a:pt x="179748" y="539831"/>
                  </a:cubicBezTo>
                  <a:lnTo>
                    <a:pt x="60764" y="570940"/>
                  </a:lnTo>
                  <a:cubicBezTo>
                    <a:pt x="52774" y="558837"/>
                    <a:pt x="45524" y="546274"/>
                    <a:pt x="39026" y="533306"/>
                  </a:cubicBezTo>
                  <a:lnTo>
                    <a:pt x="125465" y="445808"/>
                  </a:lnTo>
                  <a:cubicBezTo>
                    <a:pt x="123024" y="438167"/>
                    <a:pt x="120947" y="430414"/>
                    <a:pt x="119246" y="422579"/>
                  </a:cubicBezTo>
                  <a:lnTo>
                    <a:pt x="638" y="390020"/>
                  </a:lnTo>
                  <a:cubicBezTo>
                    <a:pt x="-213" y="375559"/>
                    <a:pt x="-213" y="361044"/>
                    <a:pt x="638" y="346570"/>
                  </a:cubicBezTo>
                  <a:lnTo>
                    <a:pt x="119246" y="314011"/>
                  </a:lnTo>
                  <a:cubicBezTo>
                    <a:pt x="120947" y="306175"/>
                    <a:pt x="123024" y="298422"/>
                    <a:pt x="125465" y="290780"/>
                  </a:cubicBezTo>
                  <a:lnTo>
                    <a:pt x="39026" y="203284"/>
                  </a:lnTo>
                  <a:cubicBezTo>
                    <a:pt x="45524" y="190330"/>
                    <a:pt x="52774" y="177767"/>
                    <a:pt x="60764" y="165649"/>
                  </a:cubicBezTo>
                  <a:lnTo>
                    <a:pt x="179748" y="196759"/>
                  </a:lnTo>
                  <a:cubicBezTo>
                    <a:pt x="185158" y="190831"/>
                    <a:pt x="190820" y="185157"/>
                    <a:pt x="196760" y="179761"/>
                  </a:cubicBezTo>
                  <a:lnTo>
                    <a:pt x="165651" y="60764"/>
                  </a:lnTo>
                  <a:cubicBezTo>
                    <a:pt x="177754" y="52788"/>
                    <a:pt x="190318" y="45537"/>
                    <a:pt x="203286" y="39039"/>
                  </a:cubicBezTo>
                  <a:lnTo>
                    <a:pt x="290783" y="125477"/>
                  </a:lnTo>
                  <a:cubicBezTo>
                    <a:pt x="298423" y="123037"/>
                    <a:pt x="306175" y="120959"/>
                    <a:pt x="314013" y="119244"/>
                  </a:cubicBezTo>
                  <a:lnTo>
                    <a:pt x="346570" y="638"/>
                  </a:lnTo>
                  <a:cubicBezTo>
                    <a:pt x="361043" y="-213"/>
                    <a:pt x="375553" y="-213"/>
                    <a:pt x="390026" y="638"/>
                  </a:cubicBezTo>
                  <a:close/>
                  <a:moveTo>
                    <a:pt x="368297" y="258167"/>
                  </a:moveTo>
                  <a:cubicBezTo>
                    <a:pt x="307513" y="258167"/>
                    <a:pt x="258164" y="307514"/>
                    <a:pt x="258164" y="368295"/>
                  </a:cubicBezTo>
                  <a:cubicBezTo>
                    <a:pt x="258164" y="429090"/>
                    <a:pt x="307513" y="478437"/>
                    <a:pt x="368297" y="478437"/>
                  </a:cubicBezTo>
                  <a:cubicBezTo>
                    <a:pt x="429081" y="478437"/>
                    <a:pt x="478431" y="429090"/>
                    <a:pt x="478431" y="368295"/>
                  </a:cubicBezTo>
                  <a:cubicBezTo>
                    <a:pt x="478431" y="307514"/>
                    <a:pt x="429081" y="258167"/>
                    <a:pt x="368297" y="258167"/>
                  </a:cubicBezTo>
                  <a:close/>
                </a:path>
              </a:pathLst>
            </a:custGeom>
            <a:solidFill>
              <a:srgbClr val="3C778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90500" y="142875"/>
              <a:ext cx="3556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61516" y="2063287"/>
            <a:ext cx="1361847" cy="1361847"/>
            <a:chOff x="0" y="0"/>
            <a:chExt cx="736600" cy="736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390026" y="638"/>
                  </a:moveTo>
                  <a:lnTo>
                    <a:pt x="422581" y="119244"/>
                  </a:lnTo>
                  <a:cubicBezTo>
                    <a:pt x="430418" y="120959"/>
                    <a:pt x="438172" y="123037"/>
                    <a:pt x="445812" y="125477"/>
                  </a:cubicBezTo>
                  <a:lnTo>
                    <a:pt x="533311" y="39039"/>
                  </a:lnTo>
                  <a:cubicBezTo>
                    <a:pt x="546273" y="45537"/>
                    <a:pt x="558838" y="52788"/>
                    <a:pt x="570944" y="60764"/>
                  </a:cubicBezTo>
                  <a:lnTo>
                    <a:pt x="539835" y="179761"/>
                  </a:lnTo>
                  <a:cubicBezTo>
                    <a:pt x="545769" y="185157"/>
                    <a:pt x="551444" y="190831"/>
                    <a:pt x="556842" y="196759"/>
                  </a:cubicBezTo>
                  <a:lnTo>
                    <a:pt x="675838" y="165649"/>
                  </a:lnTo>
                  <a:cubicBezTo>
                    <a:pt x="683815" y="177767"/>
                    <a:pt x="691071" y="190330"/>
                    <a:pt x="697565" y="203284"/>
                  </a:cubicBezTo>
                  <a:lnTo>
                    <a:pt x="611125" y="290780"/>
                  </a:lnTo>
                  <a:cubicBezTo>
                    <a:pt x="613565" y="298422"/>
                    <a:pt x="615641" y="306175"/>
                    <a:pt x="617350" y="314011"/>
                  </a:cubicBezTo>
                  <a:lnTo>
                    <a:pt x="735959" y="346570"/>
                  </a:lnTo>
                  <a:cubicBezTo>
                    <a:pt x="736813" y="361044"/>
                    <a:pt x="736813" y="375559"/>
                    <a:pt x="735959" y="390020"/>
                  </a:cubicBezTo>
                  <a:lnTo>
                    <a:pt x="617350" y="422579"/>
                  </a:lnTo>
                  <a:cubicBezTo>
                    <a:pt x="615641" y="430414"/>
                    <a:pt x="613565" y="438167"/>
                    <a:pt x="611125" y="445808"/>
                  </a:cubicBezTo>
                  <a:lnTo>
                    <a:pt x="697565" y="533306"/>
                  </a:lnTo>
                  <a:cubicBezTo>
                    <a:pt x="691071" y="546274"/>
                    <a:pt x="683815" y="558837"/>
                    <a:pt x="675838" y="570940"/>
                  </a:cubicBezTo>
                  <a:lnTo>
                    <a:pt x="556842" y="539831"/>
                  </a:lnTo>
                  <a:cubicBezTo>
                    <a:pt x="551444" y="545772"/>
                    <a:pt x="545769" y="551447"/>
                    <a:pt x="539835" y="556843"/>
                  </a:cubicBezTo>
                  <a:lnTo>
                    <a:pt x="570944" y="675839"/>
                  </a:lnTo>
                  <a:cubicBezTo>
                    <a:pt x="558838" y="683816"/>
                    <a:pt x="546273" y="691067"/>
                    <a:pt x="533311" y="697564"/>
                  </a:cubicBezTo>
                  <a:lnTo>
                    <a:pt x="445812" y="611127"/>
                  </a:lnTo>
                  <a:cubicBezTo>
                    <a:pt x="438172" y="613566"/>
                    <a:pt x="430418" y="615644"/>
                    <a:pt x="422581" y="617346"/>
                  </a:cubicBezTo>
                  <a:lnTo>
                    <a:pt x="390026" y="735951"/>
                  </a:lnTo>
                  <a:cubicBezTo>
                    <a:pt x="375553" y="736816"/>
                    <a:pt x="361043" y="736816"/>
                    <a:pt x="346570" y="735951"/>
                  </a:cubicBezTo>
                  <a:lnTo>
                    <a:pt x="314013" y="617346"/>
                  </a:lnTo>
                  <a:cubicBezTo>
                    <a:pt x="306175" y="615644"/>
                    <a:pt x="298423" y="613566"/>
                    <a:pt x="290783" y="611127"/>
                  </a:cubicBezTo>
                  <a:lnTo>
                    <a:pt x="203286" y="697564"/>
                  </a:lnTo>
                  <a:cubicBezTo>
                    <a:pt x="190318" y="691067"/>
                    <a:pt x="177754" y="683816"/>
                    <a:pt x="165651" y="675839"/>
                  </a:cubicBezTo>
                  <a:lnTo>
                    <a:pt x="196760" y="556843"/>
                  </a:lnTo>
                  <a:cubicBezTo>
                    <a:pt x="190820" y="551447"/>
                    <a:pt x="185158" y="545772"/>
                    <a:pt x="179748" y="539831"/>
                  </a:cubicBezTo>
                  <a:lnTo>
                    <a:pt x="60764" y="570940"/>
                  </a:lnTo>
                  <a:cubicBezTo>
                    <a:pt x="52774" y="558837"/>
                    <a:pt x="45524" y="546274"/>
                    <a:pt x="39026" y="533306"/>
                  </a:cubicBezTo>
                  <a:lnTo>
                    <a:pt x="125465" y="445808"/>
                  </a:lnTo>
                  <a:cubicBezTo>
                    <a:pt x="123024" y="438167"/>
                    <a:pt x="120947" y="430414"/>
                    <a:pt x="119246" y="422579"/>
                  </a:cubicBezTo>
                  <a:lnTo>
                    <a:pt x="638" y="390020"/>
                  </a:lnTo>
                  <a:cubicBezTo>
                    <a:pt x="-213" y="375559"/>
                    <a:pt x="-213" y="361044"/>
                    <a:pt x="638" y="346570"/>
                  </a:cubicBezTo>
                  <a:lnTo>
                    <a:pt x="119246" y="314011"/>
                  </a:lnTo>
                  <a:cubicBezTo>
                    <a:pt x="120947" y="306175"/>
                    <a:pt x="123024" y="298422"/>
                    <a:pt x="125465" y="290780"/>
                  </a:cubicBezTo>
                  <a:lnTo>
                    <a:pt x="39026" y="203284"/>
                  </a:lnTo>
                  <a:cubicBezTo>
                    <a:pt x="45524" y="190330"/>
                    <a:pt x="52774" y="177767"/>
                    <a:pt x="60764" y="165649"/>
                  </a:cubicBezTo>
                  <a:lnTo>
                    <a:pt x="179748" y="196759"/>
                  </a:lnTo>
                  <a:cubicBezTo>
                    <a:pt x="185158" y="190831"/>
                    <a:pt x="190820" y="185157"/>
                    <a:pt x="196760" y="179761"/>
                  </a:cubicBezTo>
                  <a:lnTo>
                    <a:pt x="165651" y="60764"/>
                  </a:lnTo>
                  <a:cubicBezTo>
                    <a:pt x="177754" y="52788"/>
                    <a:pt x="190318" y="45537"/>
                    <a:pt x="203286" y="39039"/>
                  </a:cubicBezTo>
                  <a:lnTo>
                    <a:pt x="290783" y="125477"/>
                  </a:lnTo>
                  <a:cubicBezTo>
                    <a:pt x="298423" y="123037"/>
                    <a:pt x="306175" y="120959"/>
                    <a:pt x="314013" y="119244"/>
                  </a:cubicBezTo>
                  <a:lnTo>
                    <a:pt x="346570" y="638"/>
                  </a:lnTo>
                  <a:cubicBezTo>
                    <a:pt x="361043" y="-213"/>
                    <a:pt x="375553" y="-213"/>
                    <a:pt x="390026" y="638"/>
                  </a:cubicBezTo>
                  <a:close/>
                  <a:moveTo>
                    <a:pt x="368297" y="258167"/>
                  </a:moveTo>
                  <a:cubicBezTo>
                    <a:pt x="307513" y="258167"/>
                    <a:pt x="258164" y="307514"/>
                    <a:pt x="258164" y="368295"/>
                  </a:cubicBezTo>
                  <a:cubicBezTo>
                    <a:pt x="258164" y="429090"/>
                    <a:pt x="307513" y="478437"/>
                    <a:pt x="368297" y="478437"/>
                  </a:cubicBezTo>
                  <a:cubicBezTo>
                    <a:pt x="429081" y="478437"/>
                    <a:pt x="478431" y="429090"/>
                    <a:pt x="478431" y="368295"/>
                  </a:cubicBezTo>
                  <a:cubicBezTo>
                    <a:pt x="478431" y="307514"/>
                    <a:pt x="429081" y="258167"/>
                    <a:pt x="368297" y="258167"/>
                  </a:cubicBezTo>
                  <a:close/>
                </a:path>
              </a:pathLst>
            </a:custGeom>
            <a:solidFill>
              <a:srgbClr val="3C778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90500" y="142875"/>
              <a:ext cx="3556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0" y="5683239"/>
            <a:ext cx="1373459" cy="1373459"/>
            <a:chOff x="0" y="0"/>
            <a:chExt cx="736600" cy="736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390026" y="638"/>
                  </a:moveTo>
                  <a:lnTo>
                    <a:pt x="422581" y="119244"/>
                  </a:lnTo>
                  <a:cubicBezTo>
                    <a:pt x="430418" y="120959"/>
                    <a:pt x="438172" y="123037"/>
                    <a:pt x="445812" y="125477"/>
                  </a:cubicBezTo>
                  <a:lnTo>
                    <a:pt x="533311" y="39039"/>
                  </a:lnTo>
                  <a:cubicBezTo>
                    <a:pt x="546273" y="45537"/>
                    <a:pt x="558838" y="52788"/>
                    <a:pt x="570944" y="60764"/>
                  </a:cubicBezTo>
                  <a:lnTo>
                    <a:pt x="539835" y="179761"/>
                  </a:lnTo>
                  <a:cubicBezTo>
                    <a:pt x="545769" y="185157"/>
                    <a:pt x="551444" y="190831"/>
                    <a:pt x="556842" y="196759"/>
                  </a:cubicBezTo>
                  <a:lnTo>
                    <a:pt x="675838" y="165649"/>
                  </a:lnTo>
                  <a:cubicBezTo>
                    <a:pt x="683815" y="177767"/>
                    <a:pt x="691071" y="190330"/>
                    <a:pt x="697565" y="203284"/>
                  </a:cubicBezTo>
                  <a:lnTo>
                    <a:pt x="611125" y="290780"/>
                  </a:lnTo>
                  <a:cubicBezTo>
                    <a:pt x="613565" y="298422"/>
                    <a:pt x="615641" y="306175"/>
                    <a:pt x="617350" y="314011"/>
                  </a:cubicBezTo>
                  <a:lnTo>
                    <a:pt x="735959" y="346570"/>
                  </a:lnTo>
                  <a:cubicBezTo>
                    <a:pt x="736813" y="361044"/>
                    <a:pt x="736813" y="375559"/>
                    <a:pt x="735959" y="390020"/>
                  </a:cubicBezTo>
                  <a:lnTo>
                    <a:pt x="617350" y="422579"/>
                  </a:lnTo>
                  <a:cubicBezTo>
                    <a:pt x="615641" y="430414"/>
                    <a:pt x="613565" y="438167"/>
                    <a:pt x="611125" y="445808"/>
                  </a:cubicBezTo>
                  <a:lnTo>
                    <a:pt x="697565" y="533306"/>
                  </a:lnTo>
                  <a:cubicBezTo>
                    <a:pt x="691071" y="546274"/>
                    <a:pt x="683815" y="558837"/>
                    <a:pt x="675838" y="570940"/>
                  </a:cubicBezTo>
                  <a:lnTo>
                    <a:pt x="556842" y="539831"/>
                  </a:lnTo>
                  <a:cubicBezTo>
                    <a:pt x="551444" y="545772"/>
                    <a:pt x="545769" y="551447"/>
                    <a:pt x="539835" y="556843"/>
                  </a:cubicBezTo>
                  <a:lnTo>
                    <a:pt x="570944" y="675839"/>
                  </a:lnTo>
                  <a:cubicBezTo>
                    <a:pt x="558838" y="683816"/>
                    <a:pt x="546273" y="691067"/>
                    <a:pt x="533311" y="697564"/>
                  </a:cubicBezTo>
                  <a:lnTo>
                    <a:pt x="445812" y="611127"/>
                  </a:lnTo>
                  <a:cubicBezTo>
                    <a:pt x="438172" y="613566"/>
                    <a:pt x="430418" y="615644"/>
                    <a:pt x="422581" y="617346"/>
                  </a:cubicBezTo>
                  <a:lnTo>
                    <a:pt x="390026" y="735951"/>
                  </a:lnTo>
                  <a:cubicBezTo>
                    <a:pt x="375553" y="736816"/>
                    <a:pt x="361043" y="736816"/>
                    <a:pt x="346570" y="735951"/>
                  </a:cubicBezTo>
                  <a:lnTo>
                    <a:pt x="314013" y="617346"/>
                  </a:lnTo>
                  <a:cubicBezTo>
                    <a:pt x="306175" y="615644"/>
                    <a:pt x="298423" y="613566"/>
                    <a:pt x="290783" y="611127"/>
                  </a:cubicBezTo>
                  <a:lnTo>
                    <a:pt x="203286" y="697564"/>
                  </a:lnTo>
                  <a:cubicBezTo>
                    <a:pt x="190318" y="691067"/>
                    <a:pt x="177754" y="683816"/>
                    <a:pt x="165651" y="675839"/>
                  </a:cubicBezTo>
                  <a:lnTo>
                    <a:pt x="196760" y="556843"/>
                  </a:lnTo>
                  <a:cubicBezTo>
                    <a:pt x="190820" y="551447"/>
                    <a:pt x="185158" y="545772"/>
                    <a:pt x="179748" y="539831"/>
                  </a:cubicBezTo>
                  <a:lnTo>
                    <a:pt x="60764" y="570940"/>
                  </a:lnTo>
                  <a:cubicBezTo>
                    <a:pt x="52774" y="558837"/>
                    <a:pt x="45524" y="546274"/>
                    <a:pt x="39026" y="533306"/>
                  </a:cubicBezTo>
                  <a:lnTo>
                    <a:pt x="125465" y="445808"/>
                  </a:lnTo>
                  <a:cubicBezTo>
                    <a:pt x="123024" y="438167"/>
                    <a:pt x="120947" y="430414"/>
                    <a:pt x="119246" y="422579"/>
                  </a:cubicBezTo>
                  <a:lnTo>
                    <a:pt x="638" y="390020"/>
                  </a:lnTo>
                  <a:cubicBezTo>
                    <a:pt x="-213" y="375559"/>
                    <a:pt x="-213" y="361044"/>
                    <a:pt x="638" y="346570"/>
                  </a:cubicBezTo>
                  <a:lnTo>
                    <a:pt x="119246" y="314011"/>
                  </a:lnTo>
                  <a:cubicBezTo>
                    <a:pt x="120947" y="306175"/>
                    <a:pt x="123024" y="298422"/>
                    <a:pt x="125465" y="290780"/>
                  </a:cubicBezTo>
                  <a:lnTo>
                    <a:pt x="39026" y="203284"/>
                  </a:lnTo>
                  <a:cubicBezTo>
                    <a:pt x="45524" y="190330"/>
                    <a:pt x="52774" y="177767"/>
                    <a:pt x="60764" y="165649"/>
                  </a:cubicBezTo>
                  <a:lnTo>
                    <a:pt x="179748" y="196759"/>
                  </a:lnTo>
                  <a:cubicBezTo>
                    <a:pt x="185158" y="190831"/>
                    <a:pt x="190820" y="185157"/>
                    <a:pt x="196760" y="179761"/>
                  </a:cubicBezTo>
                  <a:lnTo>
                    <a:pt x="165651" y="60764"/>
                  </a:lnTo>
                  <a:cubicBezTo>
                    <a:pt x="177754" y="52788"/>
                    <a:pt x="190318" y="45537"/>
                    <a:pt x="203286" y="39039"/>
                  </a:cubicBezTo>
                  <a:lnTo>
                    <a:pt x="290783" y="125477"/>
                  </a:lnTo>
                  <a:cubicBezTo>
                    <a:pt x="298423" y="123037"/>
                    <a:pt x="306175" y="120959"/>
                    <a:pt x="314013" y="119244"/>
                  </a:cubicBezTo>
                  <a:lnTo>
                    <a:pt x="346570" y="638"/>
                  </a:lnTo>
                  <a:cubicBezTo>
                    <a:pt x="361043" y="-213"/>
                    <a:pt x="375553" y="-213"/>
                    <a:pt x="390026" y="638"/>
                  </a:cubicBezTo>
                  <a:close/>
                  <a:moveTo>
                    <a:pt x="368297" y="258167"/>
                  </a:moveTo>
                  <a:cubicBezTo>
                    <a:pt x="307513" y="258167"/>
                    <a:pt x="258164" y="307514"/>
                    <a:pt x="258164" y="368295"/>
                  </a:cubicBezTo>
                  <a:cubicBezTo>
                    <a:pt x="258164" y="429090"/>
                    <a:pt x="307513" y="478437"/>
                    <a:pt x="368297" y="478437"/>
                  </a:cubicBezTo>
                  <a:cubicBezTo>
                    <a:pt x="429081" y="478437"/>
                    <a:pt x="478431" y="429090"/>
                    <a:pt x="478431" y="368295"/>
                  </a:cubicBezTo>
                  <a:cubicBezTo>
                    <a:pt x="478431" y="307514"/>
                    <a:pt x="429081" y="258167"/>
                    <a:pt x="368297" y="258167"/>
                  </a:cubicBezTo>
                  <a:close/>
                </a:path>
              </a:pathLst>
            </a:custGeom>
            <a:solidFill>
              <a:srgbClr val="3C778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90500" y="142875"/>
              <a:ext cx="3556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0" y="2282472"/>
            <a:ext cx="1361847" cy="1361847"/>
            <a:chOff x="0" y="0"/>
            <a:chExt cx="736600" cy="736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390026" y="638"/>
                  </a:moveTo>
                  <a:lnTo>
                    <a:pt x="422581" y="119244"/>
                  </a:lnTo>
                  <a:cubicBezTo>
                    <a:pt x="430418" y="120959"/>
                    <a:pt x="438172" y="123037"/>
                    <a:pt x="445812" y="125477"/>
                  </a:cubicBezTo>
                  <a:lnTo>
                    <a:pt x="533311" y="39039"/>
                  </a:lnTo>
                  <a:cubicBezTo>
                    <a:pt x="546273" y="45537"/>
                    <a:pt x="558838" y="52788"/>
                    <a:pt x="570944" y="60764"/>
                  </a:cubicBezTo>
                  <a:lnTo>
                    <a:pt x="539835" y="179761"/>
                  </a:lnTo>
                  <a:cubicBezTo>
                    <a:pt x="545769" y="185157"/>
                    <a:pt x="551444" y="190831"/>
                    <a:pt x="556842" y="196759"/>
                  </a:cubicBezTo>
                  <a:lnTo>
                    <a:pt x="675838" y="165649"/>
                  </a:lnTo>
                  <a:cubicBezTo>
                    <a:pt x="683815" y="177767"/>
                    <a:pt x="691071" y="190330"/>
                    <a:pt x="697565" y="203284"/>
                  </a:cubicBezTo>
                  <a:lnTo>
                    <a:pt x="611125" y="290780"/>
                  </a:lnTo>
                  <a:cubicBezTo>
                    <a:pt x="613565" y="298422"/>
                    <a:pt x="615641" y="306175"/>
                    <a:pt x="617350" y="314011"/>
                  </a:cubicBezTo>
                  <a:lnTo>
                    <a:pt x="735959" y="346570"/>
                  </a:lnTo>
                  <a:cubicBezTo>
                    <a:pt x="736813" y="361044"/>
                    <a:pt x="736813" y="375559"/>
                    <a:pt x="735959" y="390020"/>
                  </a:cubicBezTo>
                  <a:lnTo>
                    <a:pt x="617350" y="422579"/>
                  </a:lnTo>
                  <a:cubicBezTo>
                    <a:pt x="615641" y="430414"/>
                    <a:pt x="613565" y="438167"/>
                    <a:pt x="611125" y="445808"/>
                  </a:cubicBezTo>
                  <a:lnTo>
                    <a:pt x="697565" y="533306"/>
                  </a:lnTo>
                  <a:cubicBezTo>
                    <a:pt x="691071" y="546274"/>
                    <a:pt x="683815" y="558837"/>
                    <a:pt x="675838" y="570940"/>
                  </a:cubicBezTo>
                  <a:lnTo>
                    <a:pt x="556842" y="539831"/>
                  </a:lnTo>
                  <a:cubicBezTo>
                    <a:pt x="551444" y="545772"/>
                    <a:pt x="545769" y="551447"/>
                    <a:pt x="539835" y="556843"/>
                  </a:cubicBezTo>
                  <a:lnTo>
                    <a:pt x="570944" y="675839"/>
                  </a:lnTo>
                  <a:cubicBezTo>
                    <a:pt x="558838" y="683816"/>
                    <a:pt x="546273" y="691067"/>
                    <a:pt x="533311" y="697564"/>
                  </a:cubicBezTo>
                  <a:lnTo>
                    <a:pt x="445812" y="611127"/>
                  </a:lnTo>
                  <a:cubicBezTo>
                    <a:pt x="438172" y="613566"/>
                    <a:pt x="430418" y="615644"/>
                    <a:pt x="422581" y="617346"/>
                  </a:cubicBezTo>
                  <a:lnTo>
                    <a:pt x="390026" y="735951"/>
                  </a:lnTo>
                  <a:cubicBezTo>
                    <a:pt x="375553" y="736816"/>
                    <a:pt x="361043" y="736816"/>
                    <a:pt x="346570" y="735951"/>
                  </a:cubicBezTo>
                  <a:lnTo>
                    <a:pt x="314013" y="617346"/>
                  </a:lnTo>
                  <a:cubicBezTo>
                    <a:pt x="306175" y="615644"/>
                    <a:pt x="298423" y="613566"/>
                    <a:pt x="290783" y="611127"/>
                  </a:cubicBezTo>
                  <a:lnTo>
                    <a:pt x="203286" y="697564"/>
                  </a:lnTo>
                  <a:cubicBezTo>
                    <a:pt x="190318" y="691067"/>
                    <a:pt x="177754" y="683816"/>
                    <a:pt x="165651" y="675839"/>
                  </a:cubicBezTo>
                  <a:lnTo>
                    <a:pt x="196760" y="556843"/>
                  </a:lnTo>
                  <a:cubicBezTo>
                    <a:pt x="190820" y="551447"/>
                    <a:pt x="185158" y="545772"/>
                    <a:pt x="179748" y="539831"/>
                  </a:cubicBezTo>
                  <a:lnTo>
                    <a:pt x="60764" y="570940"/>
                  </a:lnTo>
                  <a:cubicBezTo>
                    <a:pt x="52774" y="558837"/>
                    <a:pt x="45524" y="546274"/>
                    <a:pt x="39026" y="533306"/>
                  </a:cubicBezTo>
                  <a:lnTo>
                    <a:pt x="125465" y="445808"/>
                  </a:lnTo>
                  <a:cubicBezTo>
                    <a:pt x="123024" y="438167"/>
                    <a:pt x="120947" y="430414"/>
                    <a:pt x="119246" y="422579"/>
                  </a:cubicBezTo>
                  <a:lnTo>
                    <a:pt x="638" y="390020"/>
                  </a:lnTo>
                  <a:cubicBezTo>
                    <a:pt x="-213" y="375559"/>
                    <a:pt x="-213" y="361044"/>
                    <a:pt x="638" y="346570"/>
                  </a:cubicBezTo>
                  <a:lnTo>
                    <a:pt x="119246" y="314011"/>
                  </a:lnTo>
                  <a:cubicBezTo>
                    <a:pt x="120947" y="306175"/>
                    <a:pt x="123024" y="298422"/>
                    <a:pt x="125465" y="290780"/>
                  </a:cubicBezTo>
                  <a:lnTo>
                    <a:pt x="39026" y="203284"/>
                  </a:lnTo>
                  <a:cubicBezTo>
                    <a:pt x="45524" y="190330"/>
                    <a:pt x="52774" y="177767"/>
                    <a:pt x="60764" y="165649"/>
                  </a:cubicBezTo>
                  <a:lnTo>
                    <a:pt x="179748" y="196759"/>
                  </a:lnTo>
                  <a:cubicBezTo>
                    <a:pt x="185158" y="190831"/>
                    <a:pt x="190820" y="185157"/>
                    <a:pt x="196760" y="179761"/>
                  </a:cubicBezTo>
                  <a:lnTo>
                    <a:pt x="165651" y="60764"/>
                  </a:lnTo>
                  <a:cubicBezTo>
                    <a:pt x="177754" y="52788"/>
                    <a:pt x="190318" y="45537"/>
                    <a:pt x="203286" y="39039"/>
                  </a:cubicBezTo>
                  <a:lnTo>
                    <a:pt x="290783" y="125477"/>
                  </a:lnTo>
                  <a:cubicBezTo>
                    <a:pt x="298423" y="123037"/>
                    <a:pt x="306175" y="120959"/>
                    <a:pt x="314013" y="119244"/>
                  </a:cubicBezTo>
                  <a:lnTo>
                    <a:pt x="346570" y="638"/>
                  </a:lnTo>
                  <a:cubicBezTo>
                    <a:pt x="361043" y="-213"/>
                    <a:pt x="375553" y="-213"/>
                    <a:pt x="390026" y="638"/>
                  </a:cubicBezTo>
                  <a:close/>
                  <a:moveTo>
                    <a:pt x="368297" y="258167"/>
                  </a:moveTo>
                  <a:cubicBezTo>
                    <a:pt x="307513" y="258167"/>
                    <a:pt x="258164" y="307514"/>
                    <a:pt x="258164" y="368295"/>
                  </a:cubicBezTo>
                  <a:cubicBezTo>
                    <a:pt x="258164" y="429090"/>
                    <a:pt x="307513" y="478437"/>
                    <a:pt x="368297" y="478437"/>
                  </a:cubicBezTo>
                  <a:cubicBezTo>
                    <a:pt x="429081" y="478437"/>
                    <a:pt x="478431" y="429090"/>
                    <a:pt x="478431" y="368295"/>
                  </a:cubicBezTo>
                  <a:cubicBezTo>
                    <a:pt x="478431" y="307514"/>
                    <a:pt x="429081" y="258167"/>
                    <a:pt x="368297" y="258167"/>
                  </a:cubicBezTo>
                  <a:close/>
                </a:path>
              </a:pathLst>
            </a:custGeom>
            <a:solidFill>
              <a:srgbClr val="3C778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90500" y="142875"/>
              <a:ext cx="3556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9525" y="-171923"/>
            <a:ext cx="3969249" cy="976960"/>
          </a:xfrm>
          <a:custGeom>
            <a:avLst/>
            <a:gdLst/>
            <a:ahLst/>
            <a:cxnLst/>
            <a:rect r="r" b="b" t="t" l="l"/>
            <a:pathLst>
              <a:path h="976960" w="3969249">
                <a:moveTo>
                  <a:pt x="0" y="0"/>
                </a:moveTo>
                <a:lnTo>
                  <a:pt x="3969249" y="0"/>
                </a:lnTo>
                <a:lnTo>
                  <a:pt x="3969249" y="976960"/>
                </a:lnTo>
                <a:lnTo>
                  <a:pt x="0" y="9769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3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06957">
            <a:off x="7964668" y="6564670"/>
            <a:ext cx="12456808" cy="9014199"/>
          </a:xfrm>
          <a:custGeom>
            <a:avLst/>
            <a:gdLst/>
            <a:ahLst/>
            <a:cxnLst/>
            <a:rect r="r" b="b" t="t" l="l"/>
            <a:pathLst>
              <a:path h="9014199" w="12456808">
                <a:moveTo>
                  <a:pt x="0" y="0"/>
                </a:moveTo>
                <a:lnTo>
                  <a:pt x="12456808" y="0"/>
                </a:lnTo>
                <a:lnTo>
                  <a:pt x="12456808" y="9014199"/>
                </a:lnTo>
                <a:lnTo>
                  <a:pt x="0" y="90141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469389" y="9576325"/>
            <a:ext cx="5982751" cy="652664"/>
          </a:xfrm>
          <a:custGeom>
            <a:avLst/>
            <a:gdLst/>
            <a:ahLst/>
            <a:cxnLst/>
            <a:rect r="r" b="b" t="t" l="l"/>
            <a:pathLst>
              <a:path h="652664" w="5982751">
                <a:moveTo>
                  <a:pt x="5982752" y="0"/>
                </a:moveTo>
                <a:lnTo>
                  <a:pt x="0" y="0"/>
                </a:lnTo>
                <a:lnTo>
                  <a:pt x="0" y="652664"/>
                </a:lnTo>
                <a:lnTo>
                  <a:pt x="5982752" y="652664"/>
                </a:lnTo>
                <a:lnTo>
                  <a:pt x="598275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0786" y="-4113883"/>
            <a:ext cx="6486067" cy="6655480"/>
          </a:xfrm>
          <a:custGeom>
            <a:avLst/>
            <a:gdLst/>
            <a:ahLst/>
            <a:cxnLst/>
            <a:rect r="r" b="b" t="t" l="l"/>
            <a:pathLst>
              <a:path h="6655480" w="6486067">
                <a:moveTo>
                  <a:pt x="0" y="0"/>
                </a:moveTo>
                <a:lnTo>
                  <a:pt x="6486067" y="0"/>
                </a:lnTo>
                <a:lnTo>
                  <a:pt x="6486067" y="6655479"/>
                </a:lnTo>
                <a:lnTo>
                  <a:pt x="0" y="66554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0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96275" y="-111061"/>
            <a:ext cx="1493641" cy="1512896"/>
          </a:xfrm>
          <a:custGeom>
            <a:avLst/>
            <a:gdLst/>
            <a:ahLst/>
            <a:cxnLst/>
            <a:rect r="r" b="b" t="t" l="l"/>
            <a:pathLst>
              <a:path h="1512896" w="1493641">
                <a:moveTo>
                  <a:pt x="0" y="0"/>
                </a:moveTo>
                <a:lnTo>
                  <a:pt x="1493641" y="0"/>
                </a:lnTo>
                <a:lnTo>
                  <a:pt x="1493641" y="1512896"/>
                </a:lnTo>
                <a:lnTo>
                  <a:pt x="0" y="15128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679" y="4339809"/>
            <a:ext cx="6142697" cy="4918491"/>
          </a:xfrm>
          <a:custGeom>
            <a:avLst/>
            <a:gdLst/>
            <a:ahLst/>
            <a:cxnLst/>
            <a:rect r="r" b="b" t="t" l="l"/>
            <a:pathLst>
              <a:path h="4918491" w="6142697">
                <a:moveTo>
                  <a:pt x="0" y="0"/>
                </a:moveTo>
                <a:lnTo>
                  <a:pt x="6142697" y="0"/>
                </a:lnTo>
                <a:lnTo>
                  <a:pt x="6142697" y="4918491"/>
                </a:lnTo>
                <a:lnTo>
                  <a:pt x="0" y="49184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22018" y="4339809"/>
            <a:ext cx="6118386" cy="4918491"/>
          </a:xfrm>
          <a:custGeom>
            <a:avLst/>
            <a:gdLst/>
            <a:ahLst/>
            <a:cxnLst/>
            <a:rect r="r" b="b" t="t" l="l"/>
            <a:pathLst>
              <a:path h="4918491" w="6118386">
                <a:moveTo>
                  <a:pt x="0" y="0"/>
                </a:moveTo>
                <a:lnTo>
                  <a:pt x="6118386" y="0"/>
                </a:lnTo>
                <a:lnTo>
                  <a:pt x="6118386" y="4918491"/>
                </a:lnTo>
                <a:lnTo>
                  <a:pt x="0" y="491849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240404" y="4339809"/>
            <a:ext cx="6118386" cy="4918491"/>
          </a:xfrm>
          <a:custGeom>
            <a:avLst/>
            <a:gdLst/>
            <a:ahLst/>
            <a:cxnLst/>
            <a:rect r="r" b="b" t="t" l="l"/>
            <a:pathLst>
              <a:path h="4918491" w="6118386">
                <a:moveTo>
                  <a:pt x="0" y="0"/>
                </a:moveTo>
                <a:lnTo>
                  <a:pt x="6118387" y="0"/>
                </a:lnTo>
                <a:lnTo>
                  <a:pt x="6118387" y="4918491"/>
                </a:lnTo>
                <a:lnTo>
                  <a:pt x="0" y="491849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99899" y="567620"/>
            <a:ext cx="12275379" cy="244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  <a:spcBef>
                <a:spcPct val="0"/>
              </a:spcBef>
            </a:pPr>
            <a:r>
              <a:rPr lang="en-US" b="true" sz="7000" spc="-245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EL FLUJO OPERATIVO DEL CARGADOR: MOCKUPS UI</a:t>
            </a:r>
          </a:p>
        </p:txBody>
      </p:sp>
      <p:sp>
        <p:nvSpPr>
          <p:cNvPr name="AutoShape 10" id="10"/>
          <p:cNvSpPr/>
          <p:nvPr/>
        </p:nvSpPr>
        <p:spPr>
          <a:xfrm>
            <a:off x="-20679" y="4006434"/>
            <a:ext cx="1837242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11" id="11"/>
          <p:cNvSpPr/>
          <p:nvPr/>
        </p:nvSpPr>
        <p:spPr>
          <a:xfrm>
            <a:off x="0" y="9417313"/>
            <a:ext cx="1837242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0" y="-171923"/>
            <a:ext cx="3969249" cy="976960"/>
          </a:xfrm>
          <a:custGeom>
            <a:avLst/>
            <a:gdLst/>
            <a:ahLst/>
            <a:cxnLst/>
            <a:rect r="r" b="b" t="t" l="l"/>
            <a:pathLst>
              <a:path h="976960" w="3969249">
                <a:moveTo>
                  <a:pt x="0" y="0"/>
                </a:moveTo>
                <a:lnTo>
                  <a:pt x="3969249" y="0"/>
                </a:lnTo>
                <a:lnTo>
                  <a:pt x="3969249" y="976960"/>
                </a:lnTo>
                <a:lnTo>
                  <a:pt x="0" y="97696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3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934022">
            <a:off x="-2732874" y="-4176923"/>
            <a:ext cx="13936640" cy="10085059"/>
          </a:xfrm>
          <a:custGeom>
            <a:avLst/>
            <a:gdLst/>
            <a:ahLst/>
            <a:cxnLst/>
            <a:rect r="r" b="b" t="t" l="l"/>
            <a:pathLst>
              <a:path h="10085059" w="13936640">
                <a:moveTo>
                  <a:pt x="13936640" y="10085059"/>
                </a:moveTo>
                <a:lnTo>
                  <a:pt x="0" y="10085059"/>
                </a:lnTo>
                <a:lnTo>
                  <a:pt x="0" y="0"/>
                </a:lnTo>
                <a:lnTo>
                  <a:pt x="13936640" y="0"/>
                </a:lnTo>
                <a:lnTo>
                  <a:pt x="13936640" y="100850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1439999">
            <a:off x="-1450465" y="8641068"/>
            <a:ext cx="6851048" cy="4957668"/>
          </a:xfrm>
          <a:custGeom>
            <a:avLst/>
            <a:gdLst/>
            <a:ahLst/>
            <a:cxnLst/>
            <a:rect r="r" b="b" t="t" l="l"/>
            <a:pathLst>
              <a:path h="4957668" w="6851048">
                <a:moveTo>
                  <a:pt x="6851048" y="0"/>
                </a:moveTo>
                <a:lnTo>
                  <a:pt x="0" y="0"/>
                </a:lnTo>
                <a:lnTo>
                  <a:pt x="0" y="4957668"/>
                </a:lnTo>
                <a:lnTo>
                  <a:pt x="6851048" y="4957668"/>
                </a:lnTo>
                <a:lnTo>
                  <a:pt x="6851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31710" y="702368"/>
            <a:ext cx="5982751" cy="652664"/>
          </a:xfrm>
          <a:custGeom>
            <a:avLst/>
            <a:gdLst/>
            <a:ahLst/>
            <a:cxnLst/>
            <a:rect r="r" b="b" t="t" l="l"/>
            <a:pathLst>
              <a:path h="652664" w="5982751">
                <a:moveTo>
                  <a:pt x="0" y="0"/>
                </a:moveTo>
                <a:lnTo>
                  <a:pt x="5982751" y="0"/>
                </a:lnTo>
                <a:lnTo>
                  <a:pt x="5982751" y="652664"/>
                </a:lnTo>
                <a:lnTo>
                  <a:pt x="0" y="6526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79125" y="219739"/>
            <a:ext cx="1352585" cy="1370021"/>
          </a:xfrm>
          <a:custGeom>
            <a:avLst/>
            <a:gdLst/>
            <a:ahLst/>
            <a:cxnLst/>
            <a:rect r="r" b="b" t="t" l="l"/>
            <a:pathLst>
              <a:path h="1370021" w="1352585">
                <a:moveTo>
                  <a:pt x="0" y="0"/>
                </a:moveTo>
                <a:lnTo>
                  <a:pt x="1352585" y="0"/>
                </a:lnTo>
                <a:lnTo>
                  <a:pt x="1352585" y="1370021"/>
                </a:lnTo>
                <a:lnTo>
                  <a:pt x="0" y="13700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10199" y="2596672"/>
            <a:ext cx="8992670" cy="7171971"/>
          </a:xfrm>
          <a:custGeom>
            <a:avLst/>
            <a:gdLst/>
            <a:ahLst/>
            <a:cxnLst/>
            <a:rect r="r" b="b" t="t" l="l"/>
            <a:pathLst>
              <a:path h="7171971" w="8992670">
                <a:moveTo>
                  <a:pt x="0" y="0"/>
                </a:moveTo>
                <a:lnTo>
                  <a:pt x="8992670" y="0"/>
                </a:lnTo>
                <a:lnTo>
                  <a:pt x="8992670" y="7171971"/>
                </a:lnTo>
                <a:lnTo>
                  <a:pt x="0" y="71719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69249" y="449907"/>
            <a:ext cx="9739071" cy="181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6999" spc="-244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EL MANT</a:t>
            </a:r>
            <a:r>
              <a:rPr lang="en-US" b="true" sz="6999" spc="-244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ENEDOR ÁGIL (FACTIBILIDAD)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990" y="4884083"/>
            <a:ext cx="914400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Carga Masiva UPSERT (Maestro)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Endpoint protegido para Administr</a:t>
            </a: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adores que procesa archivos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4990" y="6350839"/>
            <a:ext cx="9144000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Decisión Estratégica: Django Admin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Para garantizar un MVP 100% funcional en 18 semanas, la gestión de usuarios y roles se delega al panel nativo de Django, ahorrando semanas </a:t>
            </a: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de desarrollo frontend sin ceder seguridad.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0" y="-171923"/>
            <a:ext cx="3969249" cy="976960"/>
          </a:xfrm>
          <a:custGeom>
            <a:avLst/>
            <a:gdLst/>
            <a:ahLst/>
            <a:cxnLst/>
            <a:rect r="r" b="b" t="t" l="l"/>
            <a:pathLst>
              <a:path h="976960" w="3969249">
                <a:moveTo>
                  <a:pt x="0" y="0"/>
                </a:moveTo>
                <a:lnTo>
                  <a:pt x="3969249" y="0"/>
                </a:lnTo>
                <a:lnTo>
                  <a:pt x="3969249" y="976960"/>
                </a:lnTo>
                <a:lnTo>
                  <a:pt x="0" y="9769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3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936000">
            <a:off x="7135492" y="-4364309"/>
            <a:ext cx="13936640" cy="10085059"/>
          </a:xfrm>
          <a:custGeom>
            <a:avLst/>
            <a:gdLst/>
            <a:ahLst/>
            <a:cxnLst/>
            <a:rect r="r" b="b" t="t" l="l"/>
            <a:pathLst>
              <a:path h="10085059" w="13936640">
                <a:moveTo>
                  <a:pt x="0" y="10085060"/>
                </a:moveTo>
                <a:lnTo>
                  <a:pt x="13936640" y="10085060"/>
                </a:lnTo>
                <a:lnTo>
                  <a:pt x="13936640" y="0"/>
                </a:lnTo>
                <a:lnTo>
                  <a:pt x="0" y="0"/>
                </a:lnTo>
                <a:lnTo>
                  <a:pt x="0" y="1008506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01171" y="7053435"/>
            <a:ext cx="6486067" cy="6655480"/>
          </a:xfrm>
          <a:custGeom>
            <a:avLst/>
            <a:gdLst/>
            <a:ahLst/>
            <a:cxnLst/>
            <a:rect r="r" b="b" t="t" l="l"/>
            <a:pathLst>
              <a:path h="6655480" w="6486067">
                <a:moveTo>
                  <a:pt x="0" y="0"/>
                </a:moveTo>
                <a:lnTo>
                  <a:pt x="6486067" y="0"/>
                </a:lnTo>
                <a:lnTo>
                  <a:pt x="6486067" y="6655480"/>
                </a:lnTo>
                <a:lnTo>
                  <a:pt x="0" y="66554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42782">
            <a:off x="13048216" y="7808166"/>
            <a:ext cx="6851048" cy="4957668"/>
          </a:xfrm>
          <a:custGeom>
            <a:avLst/>
            <a:gdLst/>
            <a:ahLst/>
            <a:cxnLst/>
            <a:rect r="r" b="b" t="t" l="l"/>
            <a:pathLst>
              <a:path h="4957668" w="6851048">
                <a:moveTo>
                  <a:pt x="0" y="0"/>
                </a:moveTo>
                <a:lnTo>
                  <a:pt x="6851048" y="0"/>
                </a:lnTo>
                <a:lnTo>
                  <a:pt x="6851048" y="4957668"/>
                </a:lnTo>
                <a:lnTo>
                  <a:pt x="0" y="4957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3484407" y="702368"/>
            <a:ext cx="5982751" cy="652664"/>
          </a:xfrm>
          <a:custGeom>
            <a:avLst/>
            <a:gdLst/>
            <a:ahLst/>
            <a:cxnLst/>
            <a:rect r="r" b="b" t="t" l="l"/>
            <a:pathLst>
              <a:path h="652664" w="5982751">
                <a:moveTo>
                  <a:pt x="5982751" y="0"/>
                </a:moveTo>
                <a:lnTo>
                  <a:pt x="0" y="0"/>
                </a:lnTo>
                <a:lnTo>
                  <a:pt x="0" y="652664"/>
                </a:lnTo>
                <a:lnTo>
                  <a:pt x="5982751" y="652664"/>
                </a:lnTo>
                <a:lnTo>
                  <a:pt x="598275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622293" y="102841"/>
            <a:ext cx="1352585" cy="1370021"/>
          </a:xfrm>
          <a:custGeom>
            <a:avLst/>
            <a:gdLst/>
            <a:ahLst/>
            <a:cxnLst/>
            <a:rect r="r" b="b" t="t" l="l"/>
            <a:pathLst>
              <a:path h="1370021" w="1352585">
                <a:moveTo>
                  <a:pt x="1352584" y="0"/>
                </a:moveTo>
                <a:lnTo>
                  <a:pt x="0" y="0"/>
                </a:lnTo>
                <a:lnTo>
                  <a:pt x="0" y="1370021"/>
                </a:lnTo>
                <a:lnTo>
                  <a:pt x="1352584" y="1370021"/>
                </a:lnTo>
                <a:lnTo>
                  <a:pt x="135258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887758" y="3248700"/>
            <a:ext cx="10319070" cy="5628125"/>
          </a:xfrm>
          <a:custGeom>
            <a:avLst/>
            <a:gdLst/>
            <a:ahLst/>
            <a:cxnLst/>
            <a:rect r="r" b="b" t="t" l="l"/>
            <a:pathLst>
              <a:path h="5628125" w="10319070">
                <a:moveTo>
                  <a:pt x="0" y="0"/>
                </a:moveTo>
                <a:lnTo>
                  <a:pt x="10319069" y="0"/>
                </a:lnTo>
                <a:lnTo>
                  <a:pt x="10319069" y="5628126"/>
                </a:lnTo>
                <a:lnTo>
                  <a:pt x="0" y="56281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88944" y="649061"/>
            <a:ext cx="10542748" cy="270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6999" spc="-244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MODELO RELACIONAL HÍBRIDO</a:t>
            </a:r>
          </a:p>
          <a:p>
            <a:pPr algn="l">
              <a:lnSpc>
                <a:spcPts val="69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0" y="3946562"/>
            <a:ext cx="7775918" cy="392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SQL Estricto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Entidades Usuario, Rol, Usuario_Rol y Maestro_Personas con l</a:t>
            </a: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laves primarias UUID e índices B-Tree.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Columna JSONB Documental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Entidad Registro_Viaje absorbe cualquier estructura Excel entrante guardando RUT/Nombre como tokens cifrados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0" y="-171923"/>
            <a:ext cx="3969249" cy="976960"/>
          </a:xfrm>
          <a:custGeom>
            <a:avLst/>
            <a:gdLst/>
            <a:ahLst/>
            <a:cxnLst/>
            <a:rect r="r" b="b" t="t" l="l"/>
            <a:pathLst>
              <a:path h="976960" w="3969249">
                <a:moveTo>
                  <a:pt x="0" y="0"/>
                </a:moveTo>
                <a:lnTo>
                  <a:pt x="3969249" y="0"/>
                </a:lnTo>
                <a:lnTo>
                  <a:pt x="3969249" y="976960"/>
                </a:lnTo>
                <a:lnTo>
                  <a:pt x="0" y="97696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3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971517">
            <a:off x="-4293054" y="6096445"/>
            <a:ext cx="13936640" cy="10085059"/>
          </a:xfrm>
          <a:custGeom>
            <a:avLst/>
            <a:gdLst/>
            <a:ahLst/>
            <a:cxnLst/>
            <a:rect r="r" b="b" t="t" l="l"/>
            <a:pathLst>
              <a:path h="10085059" w="13936640">
                <a:moveTo>
                  <a:pt x="13936640" y="0"/>
                </a:moveTo>
                <a:lnTo>
                  <a:pt x="0" y="0"/>
                </a:lnTo>
                <a:lnTo>
                  <a:pt x="0" y="10085059"/>
                </a:lnTo>
                <a:lnTo>
                  <a:pt x="13936640" y="10085059"/>
                </a:lnTo>
                <a:lnTo>
                  <a:pt x="139366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1439999">
            <a:off x="16512365" y="8348822"/>
            <a:ext cx="6851048" cy="4957668"/>
          </a:xfrm>
          <a:custGeom>
            <a:avLst/>
            <a:gdLst/>
            <a:ahLst/>
            <a:cxnLst/>
            <a:rect r="r" b="b" t="t" l="l"/>
            <a:pathLst>
              <a:path h="4957668" w="6851048">
                <a:moveTo>
                  <a:pt x="6851048" y="0"/>
                </a:moveTo>
                <a:lnTo>
                  <a:pt x="0" y="0"/>
                </a:lnTo>
                <a:lnTo>
                  <a:pt x="0" y="4957668"/>
                </a:lnTo>
                <a:lnTo>
                  <a:pt x="6851048" y="4957668"/>
                </a:lnTo>
                <a:lnTo>
                  <a:pt x="6851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20213" y="7198604"/>
            <a:ext cx="6486067" cy="6655480"/>
          </a:xfrm>
          <a:custGeom>
            <a:avLst/>
            <a:gdLst/>
            <a:ahLst/>
            <a:cxnLst/>
            <a:rect r="r" b="b" t="t" l="l"/>
            <a:pathLst>
              <a:path h="6655480" w="6486067">
                <a:moveTo>
                  <a:pt x="0" y="0"/>
                </a:moveTo>
                <a:lnTo>
                  <a:pt x="6486068" y="0"/>
                </a:lnTo>
                <a:lnTo>
                  <a:pt x="6486068" y="6655480"/>
                </a:lnTo>
                <a:lnTo>
                  <a:pt x="0" y="66554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33676" y="529007"/>
            <a:ext cx="1229572" cy="1245422"/>
          </a:xfrm>
          <a:custGeom>
            <a:avLst/>
            <a:gdLst/>
            <a:ahLst/>
            <a:cxnLst/>
            <a:rect r="r" b="b" t="t" l="l"/>
            <a:pathLst>
              <a:path h="1245422" w="1229572">
                <a:moveTo>
                  <a:pt x="0" y="0"/>
                </a:moveTo>
                <a:lnTo>
                  <a:pt x="1229571" y="0"/>
                </a:lnTo>
                <a:lnTo>
                  <a:pt x="1229571" y="1245422"/>
                </a:lnTo>
                <a:lnTo>
                  <a:pt x="0" y="12454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3427683" y="570011"/>
            <a:ext cx="5982751" cy="652664"/>
          </a:xfrm>
          <a:custGeom>
            <a:avLst/>
            <a:gdLst/>
            <a:ahLst/>
            <a:cxnLst/>
            <a:rect r="r" b="b" t="t" l="l"/>
            <a:pathLst>
              <a:path h="652664" w="5982751">
                <a:moveTo>
                  <a:pt x="5982752" y="0"/>
                </a:moveTo>
                <a:lnTo>
                  <a:pt x="0" y="0"/>
                </a:lnTo>
                <a:lnTo>
                  <a:pt x="0" y="652664"/>
                </a:lnTo>
                <a:lnTo>
                  <a:pt x="5982752" y="652664"/>
                </a:lnTo>
                <a:lnTo>
                  <a:pt x="598275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-171923"/>
            <a:ext cx="3969249" cy="976960"/>
          </a:xfrm>
          <a:custGeom>
            <a:avLst/>
            <a:gdLst/>
            <a:ahLst/>
            <a:cxnLst/>
            <a:rect r="r" b="b" t="t" l="l"/>
            <a:pathLst>
              <a:path h="976960" w="3969249">
                <a:moveTo>
                  <a:pt x="0" y="0"/>
                </a:moveTo>
                <a:lnTo>
                  <a:pt x="3969249" y="0"/>
                </a:lnTo>
                <a:lnTo>
                  <a:pt x="3969249" y="976960"/>
                </a:lnTo>
                <a:lnTo>
                  <a:pt x="0" y="9769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80024" y="5591987"/>
            <a:ext cx="10764139" cy="4344317"/>
          </a:xfrm>
          <a:custGeom>
            <a:avLst/>
            <a:gdLst/>
            <a:ahLst/>
            <a:cxnLst/>
            <a:rect r="r" b="b" t="t" l="l"/>
            <a:pathLst>
              <a:path h="4344317" w="10764139">
                <a:moveTo>
                  <a:pt x="0" y="0"/>
                </a:moveTo>
                <a:lnTo>
                  <a:pt x="10764139" y="0"/>
                </a:lnTo>
                <a:lnTo>
                  <a:pt x="10764139" y="4344317"/>
                </a:lnTo>
                <a:lnTo>
                  <a:pt x="0" y="434431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95745" y="1029693"/>
            <a:ext cx="15025185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6999" spc="-244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CIB</a:t>
            </a:r>
            <a:r>
              <a:rPr lang="en-US" b="true" sz="6999" spc="-244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ERSEGURIDAD &amp; DASHBOARD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436307" y="1841930"/>
            <a:ext cx="18135859" cy="358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(Procesamiento Interno Backend):</a:t>
            </a:r>
          </a:p>
          <a:p>
            <a:pPr algn="just" marL="993141" indent="-331047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DRF recibe el archivo  El Middleware valida el JWT.</a:t>
            </a:r>
          </a:p>
          <a:p>
            <a:pPr algn="just" marL="993141" indent="-331047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El Motor Pandas limpia las filas y valida el Módulo 11.</a:t>
            </a:r>
          </a:p>
          <a:p>
            <a:pPr algn="just" marL="993141" indent="-331047" lvl="2">
              <a:lnSpc>
                <a:spcPts val="3220"/>
              </a:lnSpc>
              <a:spcBef>
                <a:spcPct val="0"/>
              </a:spcBef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</a:t>
            </a:r>
            <a:r>
              <a:rPr lang="en-US" sz="23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 ORM hace un SELECT (Lectura) a PostgreSQL (Neon) para cruzar la identidad con la tabla Maestro_Personas.</a:t>
            </a:r>
          </a:p>
          <a:p>
            <a:pPr algn="just" marL="496571" indent="-248285" lvl="1">
              <a:lnSpc>
                <a:spcPts val="32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0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(Criptografía y Persistencia):</a:t>
            </a:r>
          </a:p>
          <a:p>
            <a:pPr algn="just" marL="993141" indent="-331047" lvl="2">
              <a:lnSpc>
                <a:spcPts val="3220"/>
              </a:lnSpc>
              <a:spcBef>
                <a:spcPct val="0"/>
              </a:spcBef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Los registros válidos pasan al Motor Criptográfico  AES-128 cifra el RUT y el Nombre.</a:t>
            </a:r>
          </a:p>
          <a:p>
            <a:pPr algn="just" marL="993141" indent="-331047" lvl="2">
              <a:lnSpc>
                <a:spcPts val="3220"/>
              </a:lnSpc>
              <a:spcBef>
                <a:spcPct val="0"/>
              </a:spcBef>
              <a:buFont typeface="Arial"/>
              <a:buChar char="⚬"/>
            </a:pPr>
            <a:r>
              <a:rPr lang="en-US" sz="2300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El ORM realiza un INSERT de la fila empaquetada hacia la columna JSONB en Neon PostgreSQL (Conexión segura TCP/SSL).</a:t>
            </a: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  <a:p>
            <a:pPr algn="just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6469810"/>
            <a:ext cx="7319288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2499" b="true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Búsqueda Segura en RAM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El Consultor filtra por metadatos neutros (Fecha/Centro Costo). La desencript</a:t>
            </a: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ación se ejecuta al vuelo en memoria RAM.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3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40000">
            <a:off x="13102310" y="7808166"/>
            <a:ext cx="6851048" cy="4957668"/>
          </a:xfrm>
          <a:custGeom>
            <a:avLst/>
            <a:gdLst/>
            <a:ahLst/>
            <a:cxnLst/>
            <a:rect r="r" b="b" t="t" l="l"/>
            <a:pathLst>
              <a:path h="4957668" w="6851048">
                <a:moveTo>
                  <a:pt x="0" y="0"/>
                </a:moveTo>
                <a:lnTo>
                  <a:pt x="6851048" y="0"/>
                </a:lnTo>
                <a:lnTo>
                  <a:pt x="6851048" y="4957668"/>
                </a:lnTo>
                <a:lnTo>
                  <a:pt x="0" y="4957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663670" y="-4069633"/>
            <a:ext cx="6454576" cy="6623166"/>
          </a:xfrm>
          <a:custGeom>
            <a:avLst/>
            <a:gdLst/>
            <a:ahLst/>
            <a:cxnLst/>
            <a:rect r="r" b="b" t="t" l="l"/>
            <a:pathLst>
              <a:path h="6623166" w="6454576">
                <a:moveTo>
                  <a:pt x="0" y="0"/>
                </a:moveTo>
                <a:lnTo>
                  <a:pt x="6454576" y="0"/>
                </a:lnTo>
                <a:lnTo>
                  <a:pt x="6454576" y="6623166"/>
                </a:lnTo>
                <a:lnTo>
                  <a:pt x="0" y="66231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72000">
            <a:off x="10996472" y="7710077"/>
            <a:ext cx="13936640" cy="10085059"/>
          </a:xfrm>
          <a:custGeom>
            <a:avLst/>
            <a:gdLst/>
            <a:ahLst/>
            <a:cxnLst/>
            <a:rect r="r" b="b" t="t" l="l"/>
            <a:pathLst>
              <a:path h="10085059" w="13936640">
                <a:moveTo>
                  <a:pt x="0" y="0"/>
                </a:moveTo>
                <a:lnTo>
                  <a:pt x="13936639" y="0"/>
                </a:lnTo>
                <a:lnTo>
                  <a:pt x="13936639" y="10085059"/>
                </a:lnTo>
                <a:lnTo>
                  <a:pt x="0" y="100850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58461" y="26041"/>
            <a:ext cx="1538163" cy="1557992"/>
          </a:xfrm>
          <a:custGeom>
            <a:avLst/>
            <a:gdLst/>
            <a:ahLst/>
            <a:cxnLst/>
            <a:rect r="r" b="b" t="t" l="l"/>
            <a:pathLst>
              <a:path h="1557992" w="1538163">
                <a:moveTo>
                  <a:pt x="0" y="0"/>
                </a:moveTo>
                <a:lnTo>
                  <a:pt x="1538163" y="0"/>
                </a:lnTo>
                <a:lnTo>
                  <a:pt x="1538163" y="1557992"/>
                </a:lnTo>
                <a:lnTo>
                  <a:pt x="0" y="15579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96624" y="570011"/>
            <a:ext cx="5982751" cy="652664"/>
          </a:xfrm>
          <a:custGeom>
            <a:avLst/>
            <a:gdLst/>
            <a:ahLst/>
            <a:cxnLst/>
            <a:rect r="r" b="b" t="t" l="l"/>
            <a:pathLst>
              <a:path h="652664" w="5982751">
                <a:moveTo>
                  <a:pt x="0" y="0"/>
                </a:moveTo>
                <a:lnTo>
                  <a:pt x="5982752" y="0"/>
                </a:lnTo>
                <a:lnTo>
                  <a:pt x="5982752" y="652664"/>
                </a:lnTo>
                <a:lnTo>
                  <a:pt x="0" y="6526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54345" y="839022"/>
            <a:ext cx="12047817" cy="181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6999" spc="-244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ARQUITEC</a:t>
            </a:r>
            <a:r>
              <a:rPr lang="en-US" b="true" sz="6999" spc="-244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TURA CLOUD-NATIVE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0" y="-171923"/>
            <a:ext cx="3969249" cy="976960"/>
          </a:xfrm>
          <a:custGeom>
            <a:avLst/>
            <a:gdLst/>
            <a:ahLst/>
            <a:cxnLst/>
            <a:rect r="r" b="b" t="t" l="l"/>
            <a:pathLst>
              <a:path h="976960" w="3969249">
                <a:moveTo>
                  <a:pt x="0" y="0"/>
                </a:moveTo>
                <a:lnTo>
                  <a:pt x="3969249" y="0"/>
                </a:lnTo>
                <a:lnTo>
                  <a:pt x="3969249" y="976960"/>
                </a:lnTo>
                <a:lnTo>
                  <a:pt x="0" y="9769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120767" y="2655122"/>
            <a:ext cx="10167233" cy="5550277"/>
          </a:xfrm>
          <a:custGeom>
            <a:avLst/>
            <a:gdLst/>
            <a:ahLst/>
            <a:cxnLst/>
            <a:rect r="r" b="b" t="t" l="l"/>
            <a:pathLst>
              <a:path h="5550277" w="10167233">
                <a:moveTo>
                  <a:pt x="0" y="0"/>
                </a:moveTo>
                <a:lnTo>
                  <a:pt x="10167233" y="0"/>
                </a:lnTo>
                <a:lnTo>
                  <a:pt x="10167233" y="5550276"/>
                </a:lnTo>
                <a:lnTo>
                  <a:pt x="0" y="555027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0" y="2607497"/>
            <a:ext cx="8041868" cy="480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2499" b="true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Frontend (Vercel)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React SPA compilada con Vite y rutas protegidas.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2499" b="true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Backend API (Render)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Django REST Framework + Pandas para ingesta masiva.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2499" b="true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Persistencia (Neon DB)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PostgreSQL Serverless con SSL forzado y col</a:t>
            </a: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umna JSONB.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b="true" sz="2499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DevSecOps (Docker / GitHub)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Contenerización local y Smart Commits integrados a Jira.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5815873" y="5568343"/>
            <a:ext cx="13936640" cy="10085059"/>
          </a:xfrm>
          <a:custGeom>
            <a:avLst/>
            <a:gdLst/>
            <a:ahLst/>
            <a:cxnLst/>
            <a:rect r="r" b="b" t="t" l="l"/>
            <a:pathLst>
              <a:path h="10085059" w="13936640">
                <a:moveTo>
                  <a:pt x="0" y="0"/>
                </a:moveTo>
                <a:lnTo>
                  <a:pt x="13936640" y="0"/>
                </a:lnTo>
                <a:lnTo>
                  <a:pt x="13936640" y="10085059"/>
                </a:lnTo>
                <a:lnTo>
                  <a:pt x="0" y="100850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3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35043" y="-2169674"/>
            <a:ext cx="5063173" cy="5195420"/>
          </a:xfrm>
          <a:custGeom>
            <a:avLst/>
            <a:gdLst/>
            <a:ahLst/>
            <a:cxnLst/>
            <a:rect r="r" b="b" t="t" l="l"/>
            <a:pathLst>
              <a:path h="5195420" w="5063173">
                <a:moveTo>
                  <a:pt x="0" y="0"/>
                </a:moveTo>
                <a:lnTo>
                  <a:pt x="5063172" y="0"/>
                </a:lnTo>
                <a:lnTo>
                  <a:pt x="5063172" y="5195420"/>
                </a:lnTo>
                <a:lnTo>
                  <a:pt x="0" y="5195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59871" y="-2169674"/>
            <a:ext cx="5063173" cy="5195420"/>
          </a:xfrm>
          <a:custGeom>
            <a:avLst/>
            <a:gdLst/>
            <a:ahLst/>
            <a:cxnLst/>
            <a:rect r="r" b="b" t="t" l="l"/>
            <a:pathLst>
              <a:path h="5195420" w="5063173">
                <a:moveTo>
                  <a:pt x="0" y="0"/>
                </a:moveTo>
                <a:lnTo>
                  <a:pt x="5063172" y="0"/>
                </a:lnTo>
                <a:lnTo>
                  <a:pt x="5063172" y="5195420"/>
                </a:lnTo>
                <a:lnTo>
                  <a:pt x="0" y="5195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30282" y="-21222"/>
            <a:ext cx="1201398" cy="1216886"/>
          </a:xfrm>
          <a:custGeom>
            <a:avLst/>
            <a:gdLst/>
            <a:ahLst/>
            <a:cxnLst/>
            <a:rect r="r" b="b" t="t" l="l"/>
            <a:pathLst>
              <a:path h="1216886" w="1201398">
                <a:moveTo>
                  <a:pt x="0" y="0"/>
                </a:moveTo>
                <a:lnTo>
                  <a:pt x="1201398" y="0"/>
                </a:lnTo>
                <a:lnTo>
                  <a:pt x="1201398" y="1216886"/>
                </a:lnTo>
                <a:lnTo>
                  <a:pt x="0" y="1216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39606" y="9532488"/>
            <a:ext cx="5982751" cy="652664"/>
          </a:xfrm>
          <a:custGeom>
            <a:avLst/>
            <a:gdLst/>
            <a:ahLst/>
            <a:cxnLst/>
            <a:rect r="r" b="b" t="t" l="l"/>
            <a:pathLst>
              <a:path h="652664" w="5982751">
                <a:moveTo>
                  <a:pt x="0" y="0"/>
                </a:moveTo>
                <a:lnTo>
                  <a:pt x="5982751" y="0"/>
                </a:lnTo>
                <a:lnTo>
                  <a:pt x="5982751" y="652664"/>
                </a:lnTo>
                <a:lnTo>
                  <a:pt x="0" y="6526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2542451" y="9532488"/>
            <a:ext cx="5982751" cy="652664"/>
          </a:xfrm>
          <a:custGeom>
            <a:avLst/>
            <a:gdLst/>
            <a:ahLst/>
            <a:cxnLst/>
            <a:rect r="r" b="b" t="t" l="l"/>
            <a:pathLst>
              <a:path h="652664" w="5982751">
                <a:moveTo>
                  <a:pt x="5982752" y="0"/>
                </a:moveTo>
                <a:lnTo>
                  <a:pt x="0" y="0"/>
                </a:lnTo>
                <a:lnTo>
                  <a:pt x="0" y="652664"/>
                </a:lnTo>
                <a:lnTo>
                  <a:pt x="5982752" y="652664"/>
                </a:lnTo>
                <a:lnTo>
                  <a:pt x="598275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589677">
            <a:off x="-2857599" y="-3064649"/>
            <a:ext cx="8803901" cy="4964583"/>
          </a:xfrm>
          <a:custGeom>
            <a:avLst/>
            <a:gdLst/>
            <a:ahLst/>
            <a:cxnLst/>
            <a:rect r="r" b="b" t="t" l="l"/>
            <a:pathLst>
              <a:path h="4964583" w="8803901">
                <a:moveTo>
                  <a:pt x="8803902" y="4964584"/>
                </a:moveTo>
                <a:lnTo>
                  <a:pt x="0" y="4964584"/>
                </a:lnTo>
                <a:lnTo>
                  <a:pt x="0" y="0"/>
                </a:lnTo>
                <a:lnTo>
                  <a:pt x="8803902" y="0"/>
                </a:lnTo>
                <a:lnTo>
                  <a:pt x="8803902" y="496458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8325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588000">
            <a:off x="12342525" y="-3064649"/>
            <a:ext cx="8803901" cy="4964583"/>
          </a:xfrm>
          <a:custGeom>
            <a:avLst/>
            <a:gdLst/>
            <a:ahLst/>
            <a:cxnLst/>
            <a:rect r="r" b="b" t="t" l="l"/>
            <a:pathLst>
              <a:path h="4964583" w="8803901">
                <a:moveTo>
                  <a:pt x="0" y="4964584"/>
                </a:moveTo>
                <a:lnTo>
                  <a:pt x="8803901" y="4964584"/>
                </a:lnTo>
                <a:lnTo>
                  <a:pt x="8803901" y="0"/>
                </a:lnTo>
                <a:lnTo>
                  <a:pt x="0" y="0"/>
                </a:lnTo>
                <a:lnTo>
                  <a:pt x="0" y="496458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8325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-171923"/>
            <a:ext cx="3969249" cy="976960"/>
          </a:xfrm>
          <a:custGeom>
            <a:avLst/>
            <a:gdLst/>
            <a:ahLst/>
            <a:cxnLst/>
            <a:rect r="r" b="b" t="t" l="l"/>
            <a:pathLst>
              <a:path h="976960" w="3969249">
                <a:moveTo>
                  <a:pt x="0" y="0"/>
                </a:moveTo>
                <a:lnTo>
                  <a:pt x="3969249" y="0"/>
                </a:lnTo>
                <a:lnTo>
                  <a:pt x="3969249" y="976960"/>
                </a:lnTo>
                <a:lnTo>
                  <a:pt x="0" y="9769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4729" y="2815820"/>
            <a:ext cx="17992968" cy="6522451"/>
          </a:xfrm>
          <a:custGeom>
            <a:avLst/>
            <a:gdLst/>
            <a:ahLst/>
            <a:cxnLst/>
            <a:rect r="r" b="b" t="t" l="l"/>
            <a:pathLst>
              <a:path h="6522451" w="17992968">
                <a:moveTo>
                  <a:pt x="0" y="0"/>
                </a:moveTo>
                <a:lnTo>
                  <a:pt x="17992968" y="0"/>
                </a:lnTo>
                <a:lnTo>
                  <a:pt x="17992968" y="6522451"/>
                </a:lnTo>
                <a:lnTo>
                  <a:pt x="0" y="652245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25398" y="716531"/>
            <a:ext cx="11020801" cy="103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 spc="-21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</a:t>
            </a:r>
            <a:r>
              <a:rPr lang="en-US" b="true" sz="6000" spc="-210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LAN DE TRABAJO Y SPRINTS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3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425552" y="8860322"/>
            <a:ext cx="5982751" cy="652664"/>
          </a:xfrm>
          <a:custGeom>
            <a:avLst/>
            <a:gdLst/>
            <a:ahLst/>
            <a:cxnLst/>
            <a:rect r="r" b="b" t="t" l="l"/>
            <a:pathLst>
              <a:path h="652664" w="5982751">
                <a:moveTo>
                  <a:pt x="5982752" y="0"/>
                </a:moveTo>
                <a:lnTo>
                  <a:pt x="0" y="0"/>
                </a:lnTo>
                <a:lnTo>
                  <a:pt x="0" y="652663"/>
                </a:lnTo>
                <a:lnTo>
                  <a:pt x="5982752" y="652663"/>
                </a:lnTo>
                <a:lnTo>
                  <a:pt x="59827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90786" y="-4113883"/>
            <a:ext cx="6486067" cy="6655480"/>
          </a:xfrm>
          <a:custGeom>
            <a:avLst/>
            <a:gdLst/>
            <a:ahLst/>
            <a:cxnLst/>
            <a:rect r="r" b="b" t="t" l="l"/>
            <a:pathLst>
              <a:path h="6655480" w="6486067">
                <a:moveTo>
                  <a:pt x="0" y="0"/>
                </a:moveTo>
                <a:lnTo>
                  <a:pt x="6486067" y="0"/>
                </a:lnTo>
                <a:lnTo>
                  <a:pt x="6486067" y="6655479"/>
                </a:lnTo>
                <a:lnTo>
                  <a:pt x="0" y="66554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12479" y="0"/>
            <a:ext cx="1493641" cy="1512896"/>
          </a:xfrm>
          <a:custGeom>
            <a:avLst/>
            <a:gdLst/>
            <a:ahLst/>
            <a:cxnLst/>
            <a:rect r="r" b="b" t="t" l="l"/>
            <a:pathLst>
              <a:path h="1512896" w="1493641">
                <a:moveTo>
                  <a:pt x="0" y="0"/>
                </a:moveTo>
                <a:lnTo>
                  <a:pt x="1493642" y="0"/>
                </a:lnTo>
                <a:lnTo>
                  <a:pt x="1493642" y="1512896"/>
                </a:lnTo>
                <a:lnTo>
                  <a:pt x="0" y="1512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06957">
            <a:off x="7862382" y="6550058"/>
            <a:ext cx="12456808" cy="9014199"/>
          </a:xfrm>
          <a:custGeom>
            <a:avLst/>
            <a:gdLst/>
            <a:ahLst/>
            <a:cxnLst/>
            <a:rect r="r" b="b" t="t" l="l"/>
            <a:pathLst>
              <a:path h="9014199" w="12456808">
                <a:moveTo>
                  <a:pt x="0" y="0"/>
                </a:moveTo>
                <a:lnTo>
                  <a:pt x="12456808" y="0"/>
                </a:lnTo>
                <a:lnTo>
                  <a:pt x="12456808" y="9014199"/>
                </a:lnTo>
                <a:lnTo>
                  <a:pt x="0" y="90141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606957">
            <a:off x="-2031190" y="-5277257"/>
            <a:ext cx="12456808" cy="9014199"/>
          </a:xfrm>
          <a:custGeom>
            <a:avLst/>
            <a:gdLst/>
            <a:ahLst/>
            <a:cxnLst/>
            <a:rect r="r" b="b" t="t" l="l"/>
            <a:pathLst>
              <a:path h="9014199" w="12456808">
                <a:moveTo>
                  <a:pt x="12456808" y="9014199"/>
                </a:moveTo>
                <a:lnTo>
                  <a:pt x="0" y="9014199"/>
                </a:lnTo>
                <a:lnTo>
                  <a:pt x="0" y="0"/>
                </a:lnTo>
                <a:lnTo>
                  <a:pt x="12456808" y="0"/>
                </a:lnTo>
                <a:lnTo>
                  <a:pt x="12456808" y="901419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50776" y="2752312"/>
            <a:ext cx="14847070" cy="7287493"/>
            <a:chOff x="0" y="0"/>
            <a:chExt cx="3910339" cy="19193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10340" cy="1919340"/>
            </a:xfrm>
            <a:custGeom>
              <a:avLst/>
              <a:gdLst/>
              <a:ahLst/>
              <a:cxnLst/>
              <a:rect r="r" b="b" t="t" l="l"/>
              <a:pathLst>
                <a:path h="1919340" w="3910340">
                  <a:moveTo>
                    <a:pt x="17729" y="0"/>
                  </a:moveTo>
                  <a:lnTo>
                    <a:pt x="3892610" y="0"/>
                  </a:lnTo>
                  <a:cubicBezTo>
                    <a:pt x="3897312" y="0"/>
                    <a:pt x="3901822" y="1868"/>
                    <a:pt x="3905147" y="5193"/>
                  </a:cubicBezTo>
                  <a:cubicBezTo>
                    <a:pt x="3908472" y="8518"/>
                    <a:pt x="3910340" y="13027"/>
                    <a:pt x="3910340" y="17729"/>
                  </a:cubicBezTo>
                  <a:lnTo>
                    <a:pt x="3910340" y="1901611"/>
                  </a:lnTo>
                  <a:cubicBezTo>
                    <a:pt x="3910340" y="1911402"/>
                    <a:pt x="3902402" y="1919340"/>
                    <a:pt x="3892610" y="1919340"/>
                  </a:cubicBezTo>
                  <a:lnTo>
                    <a:pt x="17729" y="1919340"/>
                  </a:lnTo>
                  <a:cubicBezTo>
                    <a:pt x="13027" y="1919340"/>
                    <a:pt x="8518" y="1917472"/>
                    <a:pt x="5193" y="1914147"/>
                  </a:cubicBezTo>
                  <a:cubicBezTo>
                    <a:pt x="1868" y="1910822"/>
                    <a:pt x="0" y="1906313"/>
                    <a:pt x="0" y="1901611"/>
                  </a:cubicBezTo>
                  <a:lnTo>
                    <a:pt x="0" y="17729"/>
                  </a:lnTo>
                  <a:cubicBezTo>
                    <a:pt x="0" y="7938"/>
                    <a:pt x="7938" y="0"/>
                    <a:pt x="17729" y="0"/>
                  </a:cubicBezTo>
                  <a:close/>
                </a:path>
              </a:pathLst>
            </a:custGeom>
            <a:solidFill>
              <a:srgbClr val="3C8492"/>
            </a:solidFill>
            <a:ln w="6667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910339" cy="1966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415928" y="310741"/>
            <a:ext cx="12155648" cy="244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  <a:spcBef>
                <a:spcPct val="0"/>
              </a:spcBef>
            </a:pPr>
            <a:r>
              <a:rPr lang="en-US" b="true" sz="7000" spc="-245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SGP-MINERO: IMPACTO Y CONCLUSIONES CLAVE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84624" y="2971821"/>
            <a:ext cx="13695885" cy="679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Eficiencia Operativa: </a:t>
            </a:r>
            <a:r>
              <a:rPr lang="en-US" sz="29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Eliminación del trabajo manual y prevención de errores en origen mediante Mapper UI y validación matemática (Módulo 11). </a:t>
            </a:r>
          </a:p>
          <a:p>
            <a:pPr algn="just">
              <a:lnSpc>
                <a:spcPts val="4199"/>
              </a:lnSpc>
            </a:pPr>
          </a:p>
          <a:p>
            <a:pPr algn="just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Arquitectura Escalable y Flexible: </a:t>
            </a:r>
            <a:r>
              <a:rPr lang="en-US" sz="29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Persistencia híbrida en PostgreSQL (SQL + JSONB) que absorbe la variabilidad de planillas sin perder integridad transaccional. </a:t>
            </a:r>
          </a:p>
          <a:p>
            <a:pPr algn="just">
              <a:lnSpc>
                <a:spcPts val="4199"/>
              </a:lnSpc>
            </a:pPr>
          </a:p>
          <a:p>
            <a:pPr algn="just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</a:t>
            </a:r>
            <a:r>
              <a:rPr lang="en-US" b="true" sz="2999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iberseguridad y Cumplimiento Legal: </a:t>
            </a:r>
            <a:r>
              <a:rPr lang="en-US" sz="29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Cifrado simétrico AES-128 en datos PII y control RBAC, garantizando cumplimiento estricto de la Ley N° 19.628. 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  <a:p>
            <a:pPr algn="just" marL="647697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99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Factibilidad Comprobada:</a:t>
            </a:r>
            <a:r>
              <a:rPr lang="en-US" sz="2999">
                <a:solidFill>
                  <a:srgbClr val="FFFFFF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Planificación ágil en Scrum a 18 semanas con despliegue Cloud (Vercel, Render, Neon) lista para ejecución. 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0" y="-171923"/>
            <a:ext cx="3969249" cy="976960"/>
          </a:xfrm>
          <a:custGeom>
            <a:avLst/>
            <a:gdLst/>
            <a:ahLst/>
            <a:cxnLst/>
            <a:rect r="r" b="b" t="t" l="l"/>
            <a:pathLst>
              <a:path h="976960" w="3969249">
                <a:moveTo>
                  <a:pt x="0" y="0"/>
                </a:moveTo>
                <a:lnTo>
                  <a:pt x="3969249" y="0"/>
                </a:lnTo>
                <a:lnTo>
                  <a:pt x="3969249" y="976960"/>
                </a:lnTo>
                <a:lnTo>
                  <a:pt x="0" y="9769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35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39780" y="457858"/>
            <a:ext cx="5446882" cy="5589151"/>
          </a:xfrm>
          <a:custGeom>
            <a:avLst/>
            <a:gdLst/>
            <a:ahLst/>
            <a:cxnLst/>
            <a:rect r="r" b="b" t="t" l="l"/>
            <a:pathLst>
              <a:path h="5589151" w="5446882">
                <a:moveTo>
                  <a:pt x="0" y="0"/>
                </a:moveTo>
                <a:lnTo>
                  <a:pt x="5446882" y="0"/>
                </a:lnTo>
                <a:lnTo>
                  <a:pt x="5446882" y="5589152"/>
                </a:lnTo>
                <a:lnTo>
                  <a:pt x="0" y="5589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13273">
            <a:off x="2428245" y="7020175"/>
            <a:ext cx="19418565" cy="10950269"/>
          </a:xfrm>
          <a:custGeom>
            <a:avLst/>
            <a:gdLst/>
            <a:ahLst/>
            <a:cxnLst/>
            <a:rect r="r" b="b" t="t" l="l"/>
            <a:pathLst>
              <a:path h="10950269" w="19418565">
                <a:moveTo>
                  <a:pt x="0" y="0"/>
                </a:moveTo>
                <a:lnTo>
                  <a:pt x="19418565" y="0"/>
                </a:lnTo>
                <a:lnTo>
                  <a:pt x="19418565" y="10950268"/>
                </a:lnTo>
                <a:lnTo>
                  <a:pt x="0" y="109502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8325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1029526">
            <a:off x="-1856605" y="-2333492"/>
            <a:ext cx="7111257" cy="4010089"/>
          </a:xfrm>
          <a:custGeom>
            <a:avLst/>
            <a:gdLst/>
            <a:ahLst/>
            <a:cxnLst/>
            <a:rect r="r" b="b" t="t" l="l"/>
            <a:pathLst>
              <a:path h="4010089" w="7111257">
                <a:moveTo>
                  <a:pt x="7111257" y="4010089"/>
                </a:moveTo>
                <a:lnTo>
                  <a:pt x="0" y="4010089"/>
                </a:lnTo>
                <a:lnTo>
                  <a:pt x="0" y="0"/>
                </a:lnTo>
                <a:lnTo>
                  <a:pt x="7111257" y="0"/>
                </a:lnTo>
                <a:lnTo>
                  <a:pt x="7111257" y="401008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8325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968899" y="8859289"/>
            <a:ext cx="7315200" cy="798022"/>
          </a:xfrm>
          <a:custGeom>
            <a:avLst/>
            <a:gdLst/>
            <a:ahLst/>
            <a:cxnLst/>
            <a:rect r="r" b="b" t="t" l="l"/>
            <a:pathLst>
              <a:path h="798022" w="7315200">
                <a:moveTo>
                  <a:pt x="0" y="0"/>
                </a:moveTo>
                <a:lnTo>
                  <a:pt x="7315200" y="0"/>
                </a:lnTo>
                <a:lnTo>
                  <a:pt x="7315200" y="798022"/>
                </a:lnTo>
                <a:lnTo>
                  <a:pt x="0" y="798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764459" y="629689"/>
            <a:ext cx="7315200" cy="798022"/>
          </a:xfrm>
          <a:custGeom>
            <a:avLst/>
            <a:gdLst/>
            <a:ahLst/>
            <a:cxnLst/>
            <a:rect r="r" b="b" t="t" l="l"/>
            <a:pathLst>
              <a:path h="798022" w="7315200">
                <a:moveTo>
                  <a:pt x="0" y="0"/>
                </a:moveTo>
                <a:lnTo>
                  <a:pt x="7315200" y="0"/>
                </a:lnTo>
                <a:lnTo>
                  <a:pt x="7315200" y="798022"/>
                </a:lnTo>
                <a:lnTo>
                  <a:pt x="0" y="798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668472"/>
            <a:ext cx="14388975" cy="367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55"/>
              </a:lnSpc>
              <a:spcBef>
                <a:spcPct val="0"/>
              </a:spcBef>
            </a:pPr>
            <a:r>
              <a:rPr lang="en-US" b="true" sz="21468" spc="-751">
                <a:solidFill>
                  <a:srgbClr val="4D98A6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MUCHAS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013104"/>
            <a:ext cx="12607889" cy="3672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55"/>
              </a:lnSpc>
              <a:spcBef>
                <a:spcPct val="0"/>
              </a:spcBef>
            </a:pPr>
            <a:r>
              <a:rPr lang="en-US" b="true" sz="21468" spc="-751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GRACIAS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191635" y="232150"/>
            <a:ext cx="1572824" cy="1593100"/>
          </a:xfrm>
          <a:custGeom>
            <a:avLst/>
            <a:gdLst/>
            <a:ahLst/>
            <a:cxnLst/>
            <a:rect r="r" b="b" t="t" l="l"/>
            <a:pathLst>
              <a:path h="1593100" w="1572824">
                <a:moveTo>
                  <a:pt x="0" y="0"/>
                </a:moveTo>
                <a:lnTo>
                  <a:pt x="1572824" y="0"/>
                </a:lnTo>
                <a:lnTo>
                  <a:pt x="1572824" y="1593100"/>
                </a:lnTo>
                <a:lnTo>
                  <a:pt x="0" y="15931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-171923"/>
            <a:ext cx="3969249" cy="976960"/>
          </a:xfrm>
          <a:custGeom>
            <a:avLst/>
            <a:gdLst/>
            <a:ahLst/>
            <a:cxnLst/>
            <a:rect r="r" b="b" t="t" l="l"/>
            <a:pathLst>
              <a:path h="976960" w="3969249">
                <a:moveTo>
                  <a:pt x="0" y="0"/>
                </a:moveTo>
                <a:lnTo>
                  <a:pt x="3969249" y="0"/>
                </a:lnTo>
                <a:lnTo>
                  <a:pt x="3969249" y="976960"/>
                </a:lnTo>
                <a:lnTo>
                  <a:pt x="0" y="9769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DAHTzSOcB1c</dc:identifier>
  <dcterms:modified xsi:type="dcterms:W3CDTF">2011-08-01T06:04:30Z</dcterms:modified>
  <cp:revision>1</cp:revision>
  <dc:title>PPT FASE 1 CAPSTONE</dc:title>
</cp:coreProperties>
</file>